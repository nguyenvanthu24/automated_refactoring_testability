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Lst>
  <p:sldSz cx="18288000" cy="10287000"/>
  <p:notesSz cx="6858000" cy="9144000"/>
  <p:embeddedFontLst>
    <p:embeddedFont>
      <p:font typeface="Times New Roman Bold" panose="02020803070505020304" pitchFamily="18" charset="0"/>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87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0"/>
                </a:moveTo>
                <a:lnTo>
                  <a:pt x="10287000" y="0"/>
                </a:lnTo>
                <a:lnTo>
                  <a:pt x="10287000" y="18288000"/>
                </a:lnTo>
                <a:lnTo>
                  <a:pt x="0" y="182880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V="1">
            <a:off x="519025" y="396902"/>
            <a:ext cx="2359274" cy="2359274"/>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a:off x="15486600" y="7366014"/>
            <a:ext cx="2359274" cy="2359274"/>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486600" y="39690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2270980" y="3105176"/>
            <a:ext cx="11187084" cy="1406525"/>
          </a:xfrm>
          <a:prstGeom prst="rect">
            <a:avLst/>
          </a:prstGeom>
        </p:spPr>
        <p:txBody>
          <a:bodyPr lIns="0" tIns="0" rIns="0" bIns="0" rtlCol="0" anchor="t">
            <a:spAutoFit/>
          </a:bodyPr>
          <a:lstStyle/>
          <a:p>
            <a:pPr marL="0" lvl="0" indent="0" algn="l">
              <a:lnSpc>
                <a:spcPts val="5350"/>
              </a:lnSpc>
            </a:pPr>
            <a:r>
              <a:rPr lang="en-US" sz="5000" b="1">
                <a:solidFill>
                  <a:srgbClr val="000000"/>
                </a:solidFill>
                <a:latin typeface="Times New Roman Bold"/>
                <a:ea typeface="Times New Roman Bold"/>
                <a:cs typeface="Times New Roman Bold"/>
                <a:sym typeface="Times New Roman Bold"/>
              </a:rPr>
              <a:t>TỰ ĐỘNG REFACTORING BẰNG COMPILER GENERATION ANTLR</a:t>
            </a:r>
          </a:p>
        </p:txBody>
      </p:sp>
      <p:sp>
        <p:nvSpPr>
          <p:cNvPr id="7" name="TextBox 7"/>
          <p:cNvSpPr txBox="1"/>
          <p:nvPr/>
        </p:nvSpPr>
        <p:spPr>
          <a:xfrm>
            <a:off x="2270980" y="5878431"/>
            <a:ext cx="11613989" cy="2040255"/>
          </a:xfrm>
          <a:prstGeom prst="rect">
            <a:avLst/>
          </a:prstGeom>
        </p:spPr>
        <p:txBody>
          <a:bodyPr lIns="0" tIns="0" rIns="0" bIns="0" rtlCol="0" anchor="t">
            <a:spAutoFit/>
          </a:bodyPr>
          <a:lstStyle/>
          <a:p>
            <a:pPr marL="0" lvl="0" indent="0" algn="l">
              <a:lnSpc>
                <a:spcPts val="3210"/>
              </a:lnSpc>
            </a:pPr>
            <a:r>
              <a:rPr lang="en-US" sz="3000">
                <a:solidFill>
                  <a:srgbClr val="000000"/>
                </a:solidFill>
                <a:latin typeface="Times New Roman"/>
                <a:ea typeface="Times New Roman"/>
                <a:cs typeface="Times New Roman"/>
                <a:sym typeface="Times New Roman"/>
              </a:rPr>
              <a:t>Sinh viên: Nguyễn Văn Thứ </a:t>
            </a:r>
          </a:p>
          <a:p>
            <a:pPr marL="0" lvl="0" indent="0" algn="l">
              <a:lnSpc>
                <a:spcPts val="3210"/>
              </a:lnSpc>
            </a:pPr>
            <a:r>
              <a:rPr lang="en-US" sz="3000">
                <a:solidFill>
                  <a:srgbClr val="000000"/>
                </a:solidFill>
                <a:latin typeface="Times New Roman"/>
                <a:ea typeface="Times New Roman"/>
                <a:cs typeface="Times New Roman"/>
                <a:sym typeface="Times New Roman"/>
              </a:rPr>
              <a:t>MSSV: K225480106062</a:t>
            </a:r>
          </a:p>
          <a:p>
            <a:pPr marL="0" lvl="0" indent="0" algn="l">
              <a:lnSpc>
                <a:spcPts val="3210"/>
              </a:lnSpc>
            </a:pPr>
            <a:r>
              <a:rPr lang="en-US" sz="3000">
                <a:solidFill>
                  <a:srgbClr val="000000"/>
                </a:solidFill>
                <a:latin typeface="Times New Roman"/>
                <a:ea typeface="Times New Roman"/>
                <a:cs typeface="Times New Roman"/>
                <a:sym typeface="Times New Roman"/>
              </a:rPr>
              <a:t>Lớp: K58KTP</a:t>
            </a:r>
          </a:p>
          <a:p>
            <a:pPr marL="0" lvl="0" indent="0" algn="l">
              <a:lnSpc>
                <a:spcPts val="3210"/>
              </a:lnSpc>
            </a:pPr>
            <a:r>
              <a:rPr lang="en-US" sz="3000">
                <a:solidFill>
                  <a:srgbClr val="000000"/>
                </a:solidFill>
                <a:latin typeface="Times New Roman"/>
                <a:ea typeface="Times New Roman"/>
                <a:cs typeface="Times New Roman"/>
                <a:sym typeface="Times New Roman"/>
              </a:rPr>
              <a:t>GVHD: TS. Nguyễn Tuấn Linh</a:t>
            </a:r>
          </a:p>
          <a:p>
            <a:pPr marL="0" lvl="0" indent="0" algn="l">
              <a:lnSpc>
                <a:spcPts val="3210"/>
              </a:lnSpc>
            </a:pPr>
            <a:r>
              <a:rPr lang="en-US" sz="3000">
                <a:solidFill>
                  <a:srgbClr val="000000"/>
                </a:solidFill>
                <a:latin typeface="Times New Roman"/>
                <a:ea typeface="Times New Roman"/>
                <a:cs typeface="Times New Roman"/>
                <a:sym typeface="Times New Roman"/>
              </a:rPr>
              <a:t>Trường Đại học Kỹ thuật Công nghiệp (TNUT)</a:t>
            </a:r>
          </a:p>
        </p:txBody>
      </p:sp>
      <p:sp>
        <p:nvSpPr>
          <p:cNvPr id="8" name="Freeform 8"/>
          <p:cNvSpPr/>
          <p:nvPr/>
        </p:nvSpPr>
        <p:spPr>
          <a:xfrm>
            <a:off x="57095" y="7366014"/>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557186" y="-5988665"/>
            <a:ext cx="11718479" cy="20832852"/>
          </a:xfrm>
          <a:custGeom>
            <a:avLst/>
            <a:gdLst/>
            <a:ahLst/>
            <a:cxnLst/>
            <a:rect l="l" t="t" r="r" b="b"/>
            <a:pathLst>
              <a:path w="11718479" h="20832852">
                <a:moveTo>
                  <a:pt x="0" y="0"/>
                </a:moveTo>
                <a:lnTo>
                  <a:pt x="11718479" y="0"/>
                </a:lnTo>
                <a:lnTo>
                  <a:pt x="11718479" y="20832851"/>
                </a:lnTo>
                <a:lnTo>
                  <a:pt x="0" y="208328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V="1">
            <a:off x="519025" y="396902"/>
            <a:ext cx="2359274" cy="2359274"/>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a:off x="15486600" y="7366014"/>
            <a:ext cx="2359274" cy="2359274"/>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486600" y="39690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57095" y="7366014"/>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2629741" y="3194621"/>
            <a:ext cx="13028518" cy="2466279"/>
            <a:chOff x="0" y="0"/>
            <a:chExt cx="3431379" cy="649555"/>
          </a:xfrm>
        </p:grpSpPr>
        <p:sp>
          <p:nvSpPr>
            <p:cNvPr id="8" name="Freeform 8"/>
            <p:cNvSpPr/>
            <p:nvPr/>
          </p:nvSpPr>
          <p:spPr>
            <a:xfrm>
              <a:off x="0" y="0"/>
              <a:ext cx="3431379" cy="649555"/>
            </a:xfrm>
            <a:custGeom>
              <a:avLst/>
              <a:gdLst/>
              <a:ahLst/>
              <a:cxnLst/>
              <a:rect l="l" t="t" r="r" b="b"/>
              <a:pathLst>
                <a:path w="3431379" h="649555">
                  <a:moveTo>
                    <a:pt x="30306" y="0"/>
                  </a:moveTo>
                  <a:lnTo>
                    <a:pt x="3401074" y="0"/>
                  </a:lnTo>
                  <a:cubicBezTo>
                    <a:pt x="3409111" y="0"/>
                    <a:pt x="3416820" y="3193"/>
                    <a:pt x="3422503" y="8876"/>
                  </a:cubicBezTo>
                  <a:cubicBezTo>
                    <a:pt x="3428186" y="14560"/>
                    <a:pt x="3431379" y="22268"/>
                    <a:pt x="3431379" y="30306"/>
                  </a:cubicBezTo>
                  <a:lnTo>
                    <a:pt x="3431379" y="619249"/>
                  </a:lnTo>
                  <a:cubicBezTo>
                    <a:pt x="3431379" y="627287"/>
                    <a:pt x="3428186" y="634995"/>
                    <a:pt x="3422503" y="640679"/>
                  </a:cubicBezTo>
                  <a:cubicBezTo>
                    <a:pt x="3416820" y="646362"/>
                    <a:pt x="3409111" y="649555"/>
                    <a:pt x="3401074" y="649555"/>
                  </a:cubicBezTo>
                  <a:lnTo>
                    <a:pt x="30306" y="649555"/>
                  </a:lnTo>
                  <a:cubicBezTo>
                    <a:pt x="22268" y="649555"/>
                    <a:pt x="14560" y="646362"/>
                    <a:pt x="8876" y="640679"/>
                  </a:cubicBezTo>
                  <a:cubicBezTo>
                    <a:pt x="3193" y="634995"/>
                    <a:pt x="0" y="627287"/>
                    <a:pt x="0" y="619249"/>
                  </a:cubicBezTo>
                  <a:lnTo>
                    <a:pt x="0" y="30306"/>
                  </a:lnTo>
                  <a:cubicBezTo>
                    <a:pt x="0" y="22268"/>
                    <a:pt x="3193" y="14560"/>
                    <a:pt x="8876" y="8876"/>
                  </a:cubicBezTo>
                  <a:cubicBezTo>
                    <a:pt x="14560" y="3193"/>
                    <a:pt x="22268" y="0"/>
                    <a:pt x="30306" y="0"/>
                  </a:cubicBezTo>
                  <a:close/>
                </a:path>
              </a:pathLst>
            </a:custGeom>
            <a:solidFill>
              <a:srgbClr val="DBE0ED"/>
            </a:solidFill>
          </p:spPr>
          <p:txBody>
            <a:bodyPr/>
            <a:lstStyle/>
            <a:p>
              <a:endParaRPr lang="en-US"/>
            </a:p>
          </p:txBody>
        </p:sp>
        <p:sp>
          <p:nvSpPr>
            <p:cNvPr id="9" name="TextBox 9"/>
            <p:cNvSpPr txBox="1"/>
            <p:nvPr/>
          </p:nvSpPr>
          <p:spPr>
            <a:xfrm>
              <a:off x="0" y="-57150"/>
              <a:ext cx="3431379" cy="70670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TextBox 10"/>
          <p:cNvSpPr txBox="1"/>
          <p:nvPr/>
        </p:nvSpPr>
        <p:spPr>
          <a:xfrm>
            <a:off x="4547299" y="1624164"/>
            <a:ext cx="11268480" cy="956898"/>
          </a:xfrm>
          <a:prstGeom prst="rect">
            <a:avLst/>
          </a:prstGeom>
        </p:spPr>
        <p:txBody>
          <a:bodyPr lIns="0" tIns="0" rIns="0" bIns="0" rtlCol="0" anchor="t">
            <a:spAutoFit/>
          </a:bodyPr>
          <a:lstStyle/>
          <a:p>
            <a:pPr marL="0" lvl="0" indent="0" algn="l">
              <a:lnSpc>
                <a:spcPts val="7075"/>
              </a:lnSpc>
            </a:pPr>
            <a:r>
              <a:rPr lang="en-US" sz="6612" b="1">
                <a:solidFill>
                  <a:srgbClr val="000000"/>
                </a:solidFill>
                <a:latin typeface="Times New Roman Bold"/>
                <a:ea typeface="Times New Roman Bold"/>
                <a:cs typeface="Times New Roman Bold"/>
                <a:sym typeface="Times New Roman Bold"/>
              </a:rPr>
              <a:t>Xu hướng &amp; Thách thức</a:t>
            </a:r>
          </a:p>
        </p:txBody>
      </p:sp>
      <p:sp>
        <p:nvSpPr>
          <p:cNvPr id="11" name="TextBox 11"/>
          <p:cNvSpPr txBox="1"/>
          <p:nvPr/>
        </p:nvSpPr>
        <p:spPr>
          <a:xfrm>
            <a:off x="4110832" y="3408395"/>
            <a:ext cx="10066336" cy="1958213"/>
          </a:xfrm>
          <a:prstGeom prst="rect">
            <a:avLst/>
          </a:prstGeom>
        </p:spPr>
        <p:txBody>
          <a:bodyPr lIns="0" tIns="0" rIns="0" bIns="0" rtlCol="0" anchor="t">
            <a:spAutoFit/>
          </a:bodyPr>
          <a:lstStyle/>
          <a:p>
            <a:pPr marL="0" lvl="0" indent="0" algn="l">
              <a:lnSpc>
                <a:spcPts val="5235"/>
              </a:lnSpc>
            </a:pPr>
            <a:r>
              <a:rPr lang="en-US" sz="3399">
                <a:solidFill>
                  <a:srgbClr val="000000"/>
                </a:solidFill>
                <a:latin typeface="Times New Roman"/>
                <a:ea typeface="Times New Roman"/>
                <a:cs typeface="Times New Roman"/>
                <a:sym typeface="Times New Roman"/>
              </a:rPr>
              <a:t>Shift-Left Testing: Kiểm thử sớm trong chu kỳ phát triển giúp phát hiện lỗi từ đầu, giảm chi phí sửa lỗi đáng kể so với kiểm thử muộn.</a:t>
            </a:r>
          </a:p>
        </p:txBody>
      </p:sp>
      <p:grpSp>
        <p:nvGrpSpPr>
          <p:cNvPr id="12" name="Group 12"/>
          <p:cNvGrpSpPr/>
          <p:nvPr/>
        </p:nvGrpSpPr>
        <p:grpSpPr>
          <a:xfrm>
            <a:off x="2629741" y="6060950"/>
            <a:ext cx="13028518" cy="2466279"/>
            <a:chOff x="0" y="0"/>
            <a:chExt cx="3431379" cy="649555"/>
          </a:xfrm>
        </p:grpSpPr>
        <p:sp>
          <p:nvSpPr>
            <p:cNvPr id="13" name="Freeform 13"/>
            <p:cNvSpPr/>
            <p:nvPr/>
          </p:nvSpPr>
          <p:spPr>
            <a:xfrm>
              <a:off x="0" y="0"/>
              <a:ext cx="3431379" cy="649555"/>
            </a:xfrm>
            <a:custGeom>
              <a:avLst/>
              <a:gdLst/>
              <a:ahLst/>
              <a:cxnLst/>
              <a:rect l="l" t="t" r="r" b="b"/>
              <a:pathLst>
                <a:path w="3431379" h="649555">
                  <a:moveTo>
                    <a:pt x="30306" y="0"/>
                  </a:moveTo>
                  <a:lnTo>
                    <a:pt x="3401074" y="0"/>
                  </a:lnTo>
                  <a:cubicBezTo>
                    <a:pt x="3409111" y="0"/>
                    <a:pt x="3416820" y="3193"/>
                    <a:pt x="3422503" y="8876"/>
                  </a:cubicBezTo>
                  <a:cubicBezTo>
                    <a:pt x="3428186" y="14560"/>
                    <a:pt x="3431379" y="22268"/>
                    <a:pt x="3431379" y="30306"/>
                  </a:cubicBezTo>
                  <a:lnTo>
                    <a:pt x="3431379" y="619249"/>
                  </a:lnTo>
                  <a:cubicBezTo>
                    <a:pt x="3431379" y="627287"/>
                    <a:pt x="3428186" y="634995"/>
                    <a:pt x="3422503" y="640679"/>
                  </a:cubicBezTo>
                  <a:cubicBezTo>
                    <a:pt x="3416820" y="646362"/>
                    <a:pt x="3409111" y="649555"/>
                    <a:pt x="3401074" y="649555"/>
                  </a:cubicBezTo>
                  <a:lnTo>
                    <a:pt x="30306" y="649555"/>
                  </a:lnTo>
                  <a:cubicBezTo>
                    <a:pt x="22268" y="649555"/>
                    <a:pt x="14560" y="646362"/>
                    <a:pt x="8876" y="640679"/>
                  </a:cubicBezTo>
                  <a:cubicBezTo>
                    <a:pt x="3193" y="634995"/>
                    <a:pt x="0" y="627287"/>
                    <a:pt x="0" y="619249"/>
                  </a:cubicBezTo>
                  <a:lnTo>
                    <a:pt x="0" y="30306"/>
                  </a:lnTo>
                  <a:cubicBezTo>
                    <a:pt x="0" y="22268"/>
                    <a:pt x="3193" y="14560"/>
                    <a:pt x="8876" y="8876"/>
                  </a:cubicBezTo>
                  <a:cubicBezTo>
                    <a:pt x="14560" y="3193"/>
                    <a:pt x="22268" y="0"/>
                    <a:pt x="30306" y="0"/>
                  </a:cubicBezTo>
                  <a:close/>
                </a:path>
              </a:pathLst>
            </a:custGeom>
            <a:solidFill>
              <a:srgbClr val="DBE0ED"/>
            </a:solidFill>
          </p:spPr>
          <p:txBody>
            <a:bodyPr/>
            <a:lstStyle/>
            <a:p>
              <a:endParaRPr lang="en-US"/>
            </a:p>
          </p:txBody>
        </p:sp>
        <p:sp>
          <p:nvSpPr>
            <p:cNvPr id="14" name="TextBox 14"/>
            <p:cNvSpPr txBox="1"/>
            <p:nvPr/>
          </p:nvSpPr>
          <p:spPr>
            <a:xfrm>
              <a:off x="0" y="-57150"/>
              <a:ext cx="3431379" cy="70670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TextBox 15"/>
          <p:cNvSpPr txBox="1"/>
          <p:nvPr/>
        </p:nvSpPr>
        <p:spPr>
          <a:xfrm>
            <a:off x="4085368" y="6221892"/>
            <a:ext cx="10066336" cy="1958213"/>
          </a:xfrm>
          <a:prstGeom prst="rect">
            <a:avLst/>
          </a:prstGeom>
        </p:spPr>
        <p:txBody>
          <a:bodyPr lIns="0" tIns="0" rIns="0" bIns="0" rtlCol="0" anchor="t">
            <a:spAutoFit/>
          </a:bodyPr>
          <a:lstStyle/>
          <a:p>
            <a:pPr marL="0" lvl="0" indent="0" algn="just">
              <a:lnSpc>
                <a:spcPts val="5235"/>
              </a:lnSpc>
            </a:pPr>
            <a:r>
              <a:rPr lang="en-US" sz="3399">
                <a:solidFill>
                  <a:srgbClr val="000000"/>
                </a:solidFill>
                <a:latin typeface="Times New Roman"/>
                <a:ea typeface="Times New Roman"/>
                <a:cs typeface="Times New Roman"/>
                <a:sym typeface="Times New Roman"/>
              </a:rPr>
              <a:t>Thách thức – Nợ Kỹ Thuật: Mã nguồn cũ lạm dụng Static/Singleton tích lũy "Nợ kỹ thuật", gây khó kiểm thử, khó cô lập và đóng băng kiến trúc hệ thống.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557186" y="-5988665"/>
            <a:ext cx="11718479" cy="20832852"/>
          </a:xfrm>
          <a:custGeom>
            <a:avLst/>
            <a:gdLst/>
            <a:ahLst/>
            <a:cxnLst/>
            <a:rect l="l" t="t" r="r" b="b"/>
            <a:pathLst>
              <a:path w="11718479" h="20832852">
                <a:moveTo>
                  <a:pt x="0" y="0"/>
                </a:moveTo>
                <a:lnTo>
                  <a:pt x="11718479" y="0"/>
                </a:lnTo>
                <a:lnTo>
                  <a:pt x="11718479" y="20832851"/>
                </a:lnTo>
                <a:lnTo>
                  <a:pt x="0" y="208328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V="1">
            <a:off x="519025" y="396902"/>
            <a:ext cx="2359274" cy="2359274"/>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a:off x="15486600" y="7366014"/>
            <a:ext cx="2359274" cy="2359274"/>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486600" y="39690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57095" y="7366014"/>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2629741" y="3194621"/>
            <a:ext cx="13028518" cy="2466279"/>
            <a:chOff x="0" y="0"/>
            <a:chExt cx="3431379" cy="649555"/>
          </a:xfrm>
        </p:grpSpPr>
        <p:sp>
          <p:nvSpPr>
            <p:cNvPr id="8" name="Freeform 8"/>
            <p:cNvSpPr/>
            <p:nvPr/>
          </p:nvSpPr>
          <p:spPr>
            <a:xfrm>
              <a:off x="0" y="0"/>
              <a:ext cx="3431379" cy="649555"/>
            </a:xfrm>
            <a:custGeom>
              <a:avLst/>
              <a:gdLst/>
              <a:ahLst/>
              <a:cxnLst/>
              <a:rect l="l" t="t" r="r" b="b"/>
              <a:pathLst>
                <a:path w="3431379" h="649555">
                  <a:moveTo>
                    <a:pt x="30306" y="0"/>
                  </a:moveTo>
                  <a:lnTo>
                    <a:pt x="3401074" y="0"/>
                  </a:lnTo>
                  <a:cubicBezTo>
                    <a:pt x="3409111" y="0"/>
                    <a:pt x="3416820" y="3193"/>
                    <a:pt x="3422503" y="8876"/>
                  </a:cubicBezTo>
                  <a:cubicBezTo>
                    <a:pt x="3428186" y="14560"/>
                    <a:pt x="3431379" y="22268"/>
                    <a:pt x="3431379" y="30306"/>
                  </a:cubicBezTo>
                  <a:lnTo>
                    <a:pt x="3431379" y="619249"/>
                  </a:lnTo>
                  <a:cubicBezTo>
                    <a:pt x="3431379" y="627287"/>
                    <a:pt x="3428186" y="634995"/>
                    <a:pt x="3422503" y="640679"/>
                  </a:cubicBezTo>
                  <a:cubicBezTo>
                    <a:pt x="3416820" y="646362"/>
                    <a:pt x="3409111" y="649555"/>
                    <a:pt x="3401074" y="649555"/>
                  </a:cubicBezTo>
                  <a:lnTo>
                    <a:pt x="30306" y="649555"/>
                  </a:lnTo>
                  <a:cubicBezTo>
                    <a:pt x="22268" y="649555"/>
                    <a:pt x="14560" y="646362"/>
                    <a:pt x="8876" y="640679"/>
                  </a:cubicBezTo>
                  <a:cubicBezTo>
                    <a:pt x="3193" y="634995"/>
                    <a:pt x="0" y="627287"/>
                    <a:pt x="0" y="619249"/>
                  </a:cubicBezTo>
                  <a:lnTo>
                    <a:pt x="0" y="30306"/>
                  </a:lnTo>
                  <a:cubicBezTo>
                    <a:pt x="0" y="22268"/>
                    <a:pt x="3193" y="14560"/>
                    <a:pt x="8876" y="8876"/>
                  </a:cubicBezTo>
                  <a:cubicBezTo>
                    <a:pt x="14560" y="3193"/>
                    <a:pt x="22268" y="0"/>
                    <a:pt x="30306" y="0"/>
                  </a:cubicBezTo>
                  <a:close/>
                </a:path>
              </a:pathLst>
            </a:custGeom>
            <a:solidFill>
              <a:srgbClr val="DBE0ED"/>
            </a:solidFill>
          </p:spPr>
          <p:txBody>
            <a:bodyPr/>
            <a:lstStyle/>
            <a:p>
              <a:endParaRPr lang="en-US"/>
            </a:p>
          </p:txBody>
        </p:sp>
        <p:sp>
          <p:nvSpPr>
            <p:cNvPr id="9" name="TextBox 9"/>
            <p:cNvSpPr txBox="1"/>
            <p:nvPr/>
          </p:nvSpPr>
          <p:spPr>
            <a:xfrm>
              <a:off x="0" y="-57150"/>
              <a:ext cx="3431379" cy="70670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TextBox 10"/>
          <p:cNvSpPr txBox="1"/>
          <p:nvPr/>
        </p:nvSpPr>
        <p:spPr>
          <a:xfrm>
            <a:off x="4878428" y="1614639"/>
            <a:ext cx="9060951" cy="592949"/>
          </a:xfrm>
          <a:prstGeom prst="rect">
            <a:avLst/>
          </a:prstGeom>
        </p:spPr>
        <p:txBody>
          <a:bodyPr lIns="0" tIns="0" rIns="0" bIns="0" rtlCol="0" anchor="t">
            <a:spAutoFit/>
          </a:bodyPr>
          <a:lstStyle/>
          <a:p>
            <a:pPr marL="0" lvl="0" indent="0" algn="l">
              <a:lnSpc>
                <a:spcPts val="4476"/>
              </a:lnSpc>
            </a:pPr>
            <a:r>
              <a:rPr lang="en-US" sz="4183" b="1">
                <a:solidFill>
                  <a:srgbClr val="000000"/>
                </a:solidFill>
                <a:latin typeface="Times New Roman Bold"/>
                <a:ea typeface="Times New Roman Bold"/>
                <a:cs typeface="Times New Roman Bold"/>
                <a:sym typeface="Times New Roman Bold"/>
              </a:rPr>
              <a:t>Khái niệm cốt lõi: Testability &amp; Seams</a:t>
            </a:r>
          </a:p>
        </p:txBody>
      </p:sp>
      <p:sp>
        <p:nvSpPr>
          <p:cNvPr id="11" name="TextBox 11"/>
          <p:cNvSpPr txBox="1"/>
          <p:nvPr/>
        </p:nvSpPr>
        <p:spPr>
          <a:xfrm>
            <a:off x="3460270" y="3465920"/>
            <a:ext cx="11401232" cy="1958213"/>
          </a:xfrm>
          <a:prstGeom prst="rect">
            <a:avLst/>
          </a:prstGeom>
        </p:spPr>
        <p:txBody>
          <a:bodyPr lIns="0" tIns="0" rIns="0" bIns="0" rtlCol="0" anchor="t">
            <a:spAutoFit/>
          </a:bodyPr>
          <a:lstStyle/>
          <a:p>
            <a:pPr marL="0" lvl="0" indent="0" algn="just">
              <a:lnSpc>
                <a:spcPts val="5235"/>
              </a:lnSpc>
            </a:pPr>
            <a:r>
              <a:rPr lang="en-US" sz="3399">
                <a:solidFill>
                  <a:srgbClr val="000000"/>
                </a:solidFill>
                <a:latin typeface="Times New Roman"/>
                <a:ea typeface="Times New Roman"/>
                <a:cs typeface="Times New Roman"/>
                <a:sym typeface="Times New Roman"/>
              </a:rPr>
              <a:t>Testability: Khả năng dễ dàng thiết lập, cô lập và quan sát kết quả kiểm thử của một đơn vị mã nguồn. Mã có Testability cao cho phép viết Unit Test nhanh, chính xác và ổn định.</a:t>
            </a:r>
          </a:p>
        </p:txBody>
      </p:sp>
      <p:grpSp>
        <p:nvGrpSpPr>
          <p:cNvPr id="12" name="Group 12"/>
          <p:cNvGrpSpPr/>
          <p:nvPr/>
        </p:nvGrpSpPr>
        <p:grpSpPr>
          <a:xfrm>
            <a:off x="2629741" y="6060950"/>
            <a:ext cx="13028518" cy="2466279"/>
            <a:chOff x="0" y="0"/>
            <a:chExt cx="3431379" cy="649555"/>
          </a:xfrm>
        </p:grpSpPr>
        <p:sp>
          <p:nvSpPr>
            <p:cNvPr id="13" name="Freeform 13"/>
            <p:cNvSpPr/>
            <p:nvPr/>
          </p:nvSpPr>
          <p:spPr>
            <a:xfrm>
              <a:off x="0" y="0"/>
              <a:ext cx="3431379" cy="649555"/>
            </a:xfrm>
            <a:custGeom>
              <a:avLst/>
              <a:gdLst/>
              <a:ahLst/>
              <a:cxnLst/>
              <a:rect l="l" t="t" r="r" b="b"/>
              <a:pathLst>
                <a:path w="3431379" h="649555">
                  <a:moveTo>
                    <a:pt x="30306" y="0"/>
                  </a:moveTo>
                  <a:lnTo>
                    <a:pt x="3401074" y="0"/>
                  </a:lnTo>
                  <a:cubicBezTo>
                    <a:pt x="3409111" y="0"/>
                    <a:pt x="3416820" y="3193"/>
                    <a:pt x="3422503" y="8876"/>
                  </a:cubicBezTo>
                  <a:cubicBezTo>
                    <a:pt x="3428186" y="14560"/>
                    <a:pt x="3431379" y="22268"/>
                    <a:pt x="3431379" y="30306"/>
                  </a:cubicBezTo>
                  <a:lnTo>
                    <a:pt x="3431379" y="619249"/>
                  </a:lnTo>
                  <a:cubicBezTo>
                    <a:pt x="3431379" y="627287"/>
                    <a:pt x="3428186" y="634995"/>
                    <a:pt x="3422503" y="640679"/>
                  </a:cubicBezTo>
                  <a:cubicBezTo>
                    <a:pt x="3416820" y="646362"/>
                    <a:pt x="3409111" y="649555"/>
                    <a:pt x="3401074" y="649555"/>
                  </a:cubicBezTo>
                  <a:lnTo>
                    <a:pt x="30306" y="649555"/>
                  </a:lnTo>
                  <a:cubicBezTo>
                    <a:pt x="22268" y="649555"/>
                    <a:pt x="14560" y="646362"/>
                    <a:pt x="8876" y="640679"/>
                  </a:cubicBezTo>
                  <a:cubicBezTo>
                    <a:pt x="3193" y="634995"/>
                    <a:pt x="0" y="627287"/>
                    <a:pt x="0" y="619249"/>
                  </a:cubicBezTo>
                  <a:lnTo>
                    <a:pt x="0" y="30306"/>
                  </a:lnTo>
                  <a:cubicBezTo>
                    <a:pt x="0" y="22268"/>
                    <a:pt x="3193" y="14560"/>
                    <a:pt x="8876" y="8876"/>
                  </a:cubicBezTo>
                  <a:cubicBezTo>
                    <a:pt x="14560" y="3193"/>
                    <a:pt x="22268" y="0"/>
                    <a:pt x="30306" y="0"/>
                  </a:cubicBezTo>
                  <a:close/>
                </a:path>
              </a:pathLst>
            </a:custGeom>
            <a:solidFill>
              <a:srgbClr val="DBE0ED"/>
            </a:solidFill>
          </p:spPr>
          <p:txBody>
            <a:bodyPr/>
            <a:lstStyle/>
            <a:p>
              <a:endParaRPr lang="en-US"/>
            </a:p>
          </p:txBody>
        </p:sp>
        <p:sp>
          <p:nvSpPr>
            <p:cNvPr id="14" name="TextBox 14"/>
            <p:cNvSpPr txBox="1"/>
            <p:nvPr/>
          </p:nvSpPr>
          <p:spPr>
            <a:xfrm>
              <a:off x="0" y="-57150"/>
              <a:ext cx="3431379" cy="70670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TextBox 15"/>
          <p:cNvSpPr txBox="1"/>
          <p:nvPr/>
        </p:nvSpPr>
        <p:spPr>
          <a:xfrm>
            <a:off x="3460270" y="6248308"/>
            <a:ext cx="11401232" cy="1958213"/>
          </a:xfrm>
          <a:prstGeom prst="rect">
            <a:avLst/>
          </a:prstGeom>
        </p:spPr>
        <p:txBody>
          <a:bodyPr lIns="0" tIns="0" rIns="0" bIns="0" rtlCol="0" anchor="t">
            <a:spAutoFit/>
          </a:bodyPr>
          <a:lstStyle/>
          <a:p>
            <a:pPr marL="0" lvl="0" indent="0" algn="l">
              <a:lnSpc>
                <a:spcPts val="5235"/>
              </a:lnSpc>
            </a:pPr>
            <a:r>
              <a:rPr lang="en-US" sz="3399">
                <a:solidFill>
                  <a:srgbClr val="000000"/>
                </a:solidFill>
                <a:latin typeface="Times New Roman"/>
                <a:ea typeface="Times New Roman"/>
                <a:cs typeface="Times New Roman"/>
                <a:sym typeface="Times New Roman"/>
              </a:rPr>
              <a:t>Seams (Điểm khớp nối): Vị trí trong mã nguồn có thể bẻ gãy liên kết cứng để chèn Test Doubles (Mocks/Stubs) mà không cần sửa đổi code tại nơi gọi — nền tảng để tự động Refactoring.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557186" y="-5988665"/>
            <a:ext cx="11718479" cy="20832852"/>
          </a:xfrm>
          <a:custGeom>
            <a:avLst/>
            <a:gdLst/>
            <a:ahLst/>
            <a:cxnLst/>
            <a:rect l="l" t="t" r="r" b="b"/>
            <a:pathLst>
              <a:path w="11718479" h="20832852">
                <a:moveTo>
                  <a:pt x="0" y="0"/>
                </a:moveTo>
                <a:lnTo>
                  <a:pt x="11718479" y="0"/>
                </a:lnTo>
                <a:lnTo>
                  <a:pt x="11718479" y="20832851"/>
                </a:lnTo>
                <a:lnTo>
                  <a:pt x="0" y="208328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V="1">
            <a:off x="519025" y="396902"/>
            <a:ext cx="2359274" cy="2359274"/>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a:off x="15486600" y="7366014"/>
            <a:ext cx="2359274" cy="2359274"/>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486600" y="39690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57095" y="7366014"/>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3110214" y="3365141"/>
            <a:ext cx="12376386" cy="5138605"/>
            <a:chOff x="0" y="0"/>
            <a:chExt cx="3259624" cy="1353377"/>
          </a:xfrm>
        </p:grpSpPr>
        <p:sp>
          <p:nvSpPr>
            <p:cNvPr id="8" name="Freeform 8"/>
            <p:cNvSpPr/>
            <p:nvPr/>
          </p:nvSpPr>
          <p:spPr>
            <a:xfrm>
              <a:off x="0" y="0"/>
              <a:ext cx="3259624" cy="1353377"/>
            </a:xfrm>
            <a:custGeom>
              <a:avLst/>
              <a:gdLst/>
              <a:ahLst/>
              <a:cxnLst/>
              <a:rect l="l" t="t" r="r" b="b"/>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solidFill>
          </p:spPr>
          <p:txBody>
            <a:bodyPr/>
            <a:lstStyle/>
            <a:p>
              <a:endParaRPr lang="en-US"/>
            </a:p>
          </p:txBody>
        </p:sp>
        <p:sp>
          <p:nvSpPr>
            <p:cNvPr id="9" name="TextBox 9"/>
            <p:cNvSpPr txBox="1"/>
            <p:nvPr/>
          </p:nvSpPr>
          <p:spPr>
            <a:xfrm>
              <a:off x="0" y="-57150"/>
              <a:ext cx="3259624" cy="141052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TextBox 10"/>
          <p:cNvSpPr txBox="1"/>
          <p:nvPr/>
        </p:nvSpPr>
        <p:spPr>
          <a:xfrm>
            <a:off x="4657675" y="1605114"/>
            <a:ext cx="8972649" cy="655630"/>
          </a:xfrm>
          <a:prstGeom prst="rect">
            <a:avLst/>
          </a:prstGeom>
        </p:spPr>
        <p:txBody>
          <a:bodyPr lIns="0" tIns="0" rIns="0" bIns="0" rtlCol="0" anchor="t">
            <a:spAutoFit/>
          </a:bodyPr>
          <a:lstStyle/>
          <a:p>
            <a:pPr marL="0" lvl="0" indent="0" algn="ctr">
              <a:lnSpc>
                <a:spcPts val="4835"/>
              </a:lnSpc>
            </a:pPr>
            <a:r>
              <a:rPr lang="en-US" sz="4518" b="1">
                <a:solidFill>
                  <a:srgbClr val="000000"/>
                </a:solidFill>
                <a:latin typeface="Times New Roman Bold"/>
                <a:ea typeface="Times New Roman Bold"/>
                <a:cs typeface="Times New Roman Bold"/>
                <a:sym typeface="Times New Roman Bold"/>
              </a:rPr>
              <a:t>Phân tích cú pháp tĩnh qua cây AST</a:t>
            </a:r>
          </a:p>
        </p:txBody>
      </p:sp>
      <p:sp>
        <p:nvSpPr>
          <p:cNvPr id="11" name="TextBox 11"/>
          <p:cNvSpPr txBox="1"/>
          <p:nvPr/>
        </p:nvSpPr>
        <p:spPr>
          <a:xfrm>
            <a:off x="3478983" y="3574212"/>
            <a:ext cx="11638848" cy="4587113"/>
          </a:xfrm>
          <a:prstGeom prst="rect">
            <a:avLst/>
          </a:prstGeom>
        </p:spPr>
        <p:txBody>
          <a:bodyPr lIns="0" tIns="0" rIns="0" bIns="0" rtlCol="0" anchor="t">
            <a:spAutoFit/>
          </a:bodyPr>
          <a:lstStyle/>
          <a:p>
            <a:pPr marL="0" lvl="0" indent="0" algn="just">
              <a:lnSpc>
                <a:spcPts val="5235"/>
              </a:lnSpc>
            </a:pPr>
            <a:r>
              <a:rPr lang="en-US" sz="3399">
                <a:solidFill>
                  <a:srgbClr val="000000"/>
                </a:solidFill>
                <a:latin typeface="Times New Roman"/>
                <a:ea typeface="Times New Roman"/>
                <a:cs typeface="Times New Roman"/>
                <a:sym typeface="Times New Roman"/>
              </a:rPr>
              <a:t>• Chuyển mã nguồn từ plain text thành cấu trúc cây (Abstract Syntax Tree – AST)</a:t>
            </a:r>
          </a:p>
          <a:p>
            <a:pPr marL="0" lvl="0" indent="0" algn="just">
              <a:lnSpc>
                <a:spcPts val="5235"/>
              </a:lnSpc>
            </a:pPr>
            <a:r>
              <a:rPr lang="en-US" sz="3399">
                <a:solidFill>
                  <a:srgbClr val="000000"/>
                </a:solidFill>
                <a:latin typeface="Times New Roman"/>
                <a:ea typeface="Times New Roman"/>
                <a:cs typeface="Times New Roman"/>
                <a:sym typeface="Times New Roman"/>
              </a:rPr>
              <a:t>• Nút nội bộ (non-terminal): định nghĩa các quy tắc cú pháp của ngôn ngữ lập trình</a:t>
            </a:r>
          </a:p>
          <a:p>
            <a:pPr marL="0" lvl="0" indent="0" algn="just">
              <a:lnSpc>
                <a:spcPts val="5235"/>
              </a:lnSpc>
            </a:pPr>
            <a:r>
              <a:rPr lang="en-US" sz="3399">
                <a:solidFill>
                  <a:srgbClr val="000000"/>
                </a:solidFill>
                <a:latin typeface="Times New Roman"/>
                <a:ea typeface="Times New Roman"/>
                <a:cs typeface="Times New Roman"/>
                <a:sym typeface="Times New Roman"/>
              </a:rPr>
              <a:t>• Nút lá (terminal): chứa giá trị thực tế – token, định danh, hằng số</a:t>
            </a:r>
          </a:p>
          <a:p>
            <a:pPr marL="0" lvl="0" indent="0" algn="just">
              <a:lnSpc>
                <a:spcPts val="5235"/>
              </a:lnSpc>
            </a:pPr>
            <a:r>
              <a:rPr lang="en-US" sz="3399">
                <a:solidFill>
                  <a:srgbClr val="000000"/>
                </a:solidFill>
                <a:latin typeface="Times New Roman"/>
                <a:ea typeface="Times New Roman"/>
                <a:cs typeface="Times New Roman"/>
                <a:sym typeface="Times New Roman"/>
              </a:rPr>
              <a:t>• AST là nền tảng để ANTLR phân tích, nhận diện và biến đổi mã nguồn tự động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557186" y="-5988665"/>
            <a:ext cx="11718479" cy="20832852"/>
          </a:xfrm>
          <a:custGeom>
            <a:avLst/>
            <a:gdLst/>
            <a:ahLst/>
            <a:cxnLst/>
            <a:rect l="l" t="t" r="r" b="b"/>
            <a:pathLst>
              <a:path w="11718479" h="20832852">
                <a:moveTo>
                  <a:pt x="0" y="0"/>
                </a:moveTo>
                <a:lnTo>
                  <a:pt x="11718479" y="0"/>
                </a:lnTo>
                <a:lnTo>
                  <a:pt x="11718479" y="20832851"/>
                </a:lnTo>
                <a:lnTo>
                  <a:pt x="0" y="208328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V="1">
            <a:off x="519025" y="396902"/>
            <a:ext cx="2359274" cy="2359274"/>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a:off x="15486600" y="7366014"/>
            <a:ext cx="2359274" cy="2359274"/>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486600" y="39690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57095" y="7366014"/>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1828800" y="1562101"/>
            <a:ext cx="14554200" cy="7162800"/>
            <a:chOff x="0" y="0"/>
            <a:chExt cx="3259624" cy="1353377"/>
          </a:xfrm>
        </p:grpSpPr>
        <p:sp>
          <p:nvSpPr>
            <p:cNvPr id="8" name="Freeform 8"/>
            <p:cNvSpPr/>
            <p:nvPr/>
          </p:nvSpPr>
          <p:spPr>
            <a:xfrm>
              <a:off x="0" y="0"/>
              <a:ext cx="3259624" cy="1353377"/>
            </a:xfrm>
            <a:custGeom>
              <a:avLst/>
              <a:gdLst/>
              <a:ahLst/>
              <a:cxnLst/>
              <a:rect l="l" t="t" r="r" b="b"/>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solidFill>
          </p:spPr>
          <p:txBody>
            <a:bodyPr/>
            <a:lstStyle/>
            <a:p>
              <a:endParaRPr lang="en-US" dirty="0"/>
            </a:p>
          </p:txBody>
        </p:sp>
        <p:sp>
          <p:nvSpPr>
            <p:cNvPr id="9" name="TextBox 9"/>
            <p:cNvSpPr txBox="1"/>
            <p:nvPr/>
          </p:nvSpPr>
          <p:spPr>
            <a:xfrm>
              <a:off x="0" y="-57150"/>
              <a:ext cx="3259624" cy="141052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TextBox 10"/>
          <p:cNvSpPr txBox="1"/>
          <p:nvPr/>
        </p:nvSpPr>
        <p:spPr>
          <a:xfrm>
            <a:off x="4613524" y="-179993"/>
            <a:ext cx="9060951" cy="772849"/>
          </a:xfrm>
          <a:prstGeom prst="rect">
            <a:avLst/>
          </a:prstGeom>
        </p:spPr>
        <p:txBody>
          <a:bodyPr lIns="0" tIns="0" rIns="0" bIns="0" rtlCol="0" anchor="t">
            <a:spAutoFit/>
          </a:bodyPr>
          <a:lstStyle/>
          <a:p>
            <a:pPr marL="0" lvl="0" indent="0" algn="ctr">
              <a:lnSpc>
                <a:spcPts val="5641"/>
              </a:lnSpc>
            </a:pPr>
            <a:r>
              <a:rPr lang="en-US" sz="5272" b="1" dirty="0">
                <a:solidFill>
                  <a:srgbClr val="000000"/>
                </a:solidFill>
                <a:latin typeface="Times New Roman Bold"/>
                <a:ea typeface="Times New Roman Bold"/>
                <a:cs typeface="Times New Roman Bold"/>
                <a:sym typeface="Times New Roman Bold"/>
              </a:rPr>
              <a:t>Quy </a:t>
            </a:r>
            <a:r>
              <a:rPr lang="en-US" sz="5272" b="1" dirty="0" err="1">
                <a:solidFill>
                  <a:srgbClr val="000000"/>
                </a:solidFill>
                <a:latin typeface="Times New Roman Bold"/>
                <a:ea typeface="Times New Roman Bold"/>
                <a:cs typeface="Times New Roman Bold"/>
                <a:sym typeface="Times New Roman Bold"/>
              </a:rPr>
              <a:t>trình</a:t>
            </a:r>
            <a:r>
              <a:rPr lang="en-US" sz="5272" b="1" dirty="0">
                <a:solidFill>
                  <a:srgbClr val="000000"/>
                </a:solidFill>
                <a:latin typeface="Times New Roman Bold"/>
                <a:ea typeface="Times New Roman Bold"/>
                <a:cs typeface="Times New Roman Bold"/>
                <a:sym typeface="Times New Roman Bold"/>
              </a:rPr>
              <a:t> Refactoring 4 </a:t>
            </a:r>
            <a:r>
              <a:rPr lang="en-US" sz="5272" b="1" dirty="0" err="1">
                <a:solidFill>
                  <a:srgbClr val="000000"/>
                </a:solidFill>
                <a:latin typeface="Times New Roman Bold"/>
                <a:ea typeface="Times New Roman Bold"/>
                <a:cs typeface="Times New Roman Bold"/>
                <a:sym typeface="Times New Roman Bold"/>
              </a:rPr>
              <a:t>Bước</a:t>
            </a:r>
            <a:endParaRPr lang="en-US" sz="5272" b="1" dirty="0">
              <a:solidFill>
                <a:srgbClr val="000000"/>
              </a:solidFill>
              <a:latin typeface="Times New Roman Bold"/>
              <a:ea typeface="Times New Roman Bold"/>
              <a:cs typeface="Times New Roman Bold"/>
              <a:sym typeface="Times New Roman Bold"/>
            </a:endParaRPr>
          </a:p>
        </p:txBody>
      </p:sp>
      <p:sp>
        <p:nvSpPr>
          <p:cNvPr id="11" name="TextBox 11"/>
          <p:cNvSpPr txBox="1"/>
          <p:nvPr/>
        </p:nvSpPr>
        <p:spPr>
          <a:xfrm>
            <a:off x="2514601" y="1856608"/>
            <a:ext cx="13125744" cy="6401753"/>
          </a:xfrm>
          <a:prstGeom prst="rect">
            <a:avLst/>
          </a:prstGeom>
        </p:spPr>
        <p:txBody>
          <a:bodyPr wrap="square" lIns="0" tIns="0" rIns="0" bIns="0" rtlCol="0" anchor="t">
            <a:spAutoFit/>
          </a:bodyPr>
          <a:lstStyle/>
          <a:p>
            <a:pPr algn="just"/>
            <a:r>
              <a:rPr lang="en-US" sz="3200" b="1" dirty="0" err="1">
                <a:latin typeface="Times New Roman" panose="02020603050405020304" pitchFamily="18" charset="0"/>
                <a:cs typeface="Times New Roman" panose="02020603050405020304" pitchFamily="18" charset="0"/>
              </a:rPr>
              <a:t>Bước</a:t>
            </a:r>
            <a:r>
              <a:rPr lang="en-US" sz="3200" b="1" dirty="0">
                <a:latin typeface="Times New Roman" panose="02020603050405020304" pitchFamily="18" charset="0"/>
                <a:cs typeface="Times New Roman" panose="02020603050405020304" pitchFamily="18" charset="0"/>
              </a:rPr>
              <a:t> 1 (</a:t>
            </a:r>
            <a:r>
              <a:rPr lang="en-US" sz="3200" b="1" dirty="0" err="1">
                <a:latin typeface="Times New Roman" panose="02020603050405020304" pitchFamily="18" charset="0"/>
                <a:cs typeface="Times New Roman" panose="02020603050405020304" pitchFamily="18" charset="0"/>
              </a:rPr>
              <a:t>Phân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tích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cú</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pháp</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tĩnh</a:t>
            </a:r>
            <a:r>
              <a:rPr lang="en-US" sz="3200" b="1" dirty="0">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Mã</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nguồn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đầu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được</a:t>
            </a:r>
            <a:r>
              <a:rPr lang="en-US" sz="3200" dirty="0">
                <a:latin typeface="Times New Roman" panose="02020603050405020304" pitchFamily="18" charset="0"/>
                <a:cs typeface="Times New Roman" panose="02020603050405020304" pitchFamily="18" charset="0"/>
              </a:rPr>
              <a:t> ANTLR Lexer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Parser </a:t>
            </a:r>
            <a:r>
              <a:rPr lang="en-US" sz="3200" dirty="0" err="1">
                <a:latin typeface="Times New Roman" panose="02020603050405020304" pitchFamily="18" charset="0"/>
                <a:cs typeface="Times New Roman" panose="02020603050405020304" pitchFamily="18" charset="0"/>
              </a:rPr>
              <a:t>phân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rã</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từ</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chuỗi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văn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bản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thô</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thành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cấu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trúc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hình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học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gọi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Cây</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cú</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trừu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tượng</a:t>
            </a:r>
            <a:r>
              <a:rPr lang="en-US" sz="3200" dirty="0">
                <a:latin typeface="Times New Roman" panose="02020603050405020304" pitchFamily="18" charset="0"/>
                <a:cs typeface="Times New Roman" panose="02020603050405020304" pitchFamily="18" charset="0"/>
              </a:rPr>
              <a:t> (AST). </a:t>
            </a:r>
          </a:p>
          <a:p>
            <a:pPr algn="just"/>
            <a:r>
              <a:rPr lang="en-US" sz="3200" b="1" dirty="0" err="1">
                <a:latin typeface="Times New Roman" panose="02020603050405020304" pitchFamily="18" charset="0"/>
                <a:cs typeface="Times New Roman" panose="02020603050405020304" pitchFamily="18" charset="0"/>
              </a:rPr>
              <a:t>Bước</a:t>
            </a:r>
            <a:r>
              <a:rPr lang="en-US" sz="3200" b="1" dirty="0">
                <a:latin typeface="Times New Roman" panose="02020603050405020304" pitchFamily="18" charset="0"/>
                <a:cs typeface="Times New Roman" panose="02020603050405020304" pitchFamily="18" charset="0"/>
              </a:rPr>
              <a:t> 2 (</a:t>
            </a:r>
            <a:r>
              <a:rPr lang="en-US" sz="3200" b="1" dirty="0" err="1">
                <a:latin typeface="Times New Roman" panose="02020603050405020304" pitchFamily="18" charset="0"/>
                <a:cs typeface="Times New Roman" panose="02020603050405020304" pitchFamily="18" charset="0"/>
              </a:rPr>
              <a:t>Duyệt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cây</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tìm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mã</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xấu</a:t>
            </a:r>
            <a:r>
              <a:rPr lang="en-US" sz="3200" b="1" dirty="0">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Bộ</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điều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khiển</a:t>
            </a:r>
            <a:r>
              <a:rPr lang="en-US" sz="3200" dirty="0">
                <a:latin typeface="Times New Roman" panose="02020603050405020304" pitchFamily="18" charset="0"/>
                <a:cs typeface="Times New Roman" panose="02020603050405020304" pitchFamily="18" charset="0"/>
              </a:rPr>
              <a:t> Listener </a:t>
            </a:r>
            <a:r>
              <a:rPr lang="en-US" sz="3200" dirty="0" err="1">
                <a:latin typeface="Times New Roman" panose="02020603050405020304" pitchFamily="18" charset="0"/>
                <a:cs typeface="Times New Roman" panose="02020603050405020304" pitchFamily="18" charset="0"/>
              </a:rPr>
              <a:t>thực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duyệt</a:t>
            </a:r>
            <a:r>
              <a:rPr lang="en-US" sz="3200" dirty="0">
                <a:latin typeface="Times New Roman" panose="02020603050405020304" pitchFamily="18" charset="0"/>
                <a:cs typeface="Times New Roman" panose="02020603050405020304" pitchFamily="18" charset="0"/>
              </a:rPr>
              <a:t> qua </a:t>
            </a:r>
            <a:r>
              <a:rPr lang="en-US" sz="3200" dirty="0" err="1">
                <a:latin typeface="Times New Roman" panose="02020603050405020304" pitchFamily="18" charset="0"/>
                <a:cs typeface="Times New Roman" panose="02020603050405020304" pitchFamily="18" charset="0"/>
              </a:rPr>
              <a:t>các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nút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của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cây</a:t>
            </a:r>
            <a:r>
              <a:rPr lang="en-US" sz="3200" dirty="0">
                <a:latin typeface="Times New Roman" panose="02020603050405020304" pitchFamily="18" charset="0"/>
                <a:cs typeface="Times New Roman" panose="02020603050405020304" pitchFamily="18" charset="0"/>
              </a:rPr>
              <a:t> AST </a:t>
            </a:r>
            <a:r>
              <a:rPr lang="en-US" sz="3200" dirty="0" err="1">
                <a:latin typeface="Times New Roman" panose="02020603050405020304" pitchFamily="18" charset="0"/>
                <a:cs typeface="Times New Roman" panose="02020603050405020304" pitchFamily="18" charset="0"/>
              </a:rPr>
              <a:t>theo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giải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thuật</a:t>
            </a:r>
            <a:r>
              <a:rPr lang="en-US" sz="3200" dirty="0">
                <a:latin typeface="Times New Roman" panose="02020603050405020304" pitchFamily="18" charset="0"/>
                <a:cs typeface="Times New Roman" panose="02020603050405020304" pitchFamily="18" charset="0"/>
              </a:rPr>
              <a:t> DFS </a:t>
            </a:r>
            <a:r>
              <a:rPr lang="en-US" sz="3200" dirty="0" err="1">
                <a:latin typeface="Times New Roman" panose="02020603050405020304" pitchFamily="18" charset="0"/>
                <a:cs typeface="Times New Roman" panose="02020603050405020304" pitchFamily="18" charset="0"/>
              </a:rPr>
              <a:t>để</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chính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tọa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độ</a:t>
            </a:r>
            <a:r>
              <a:rPr lang="en-US" sz="3200" dirty="0">
                <a:latin typeface="Times New Roman" panose="02020603050405020304" pitchFamily="18" charset="0"/>
                <a:cs typeface="Times New Roman" panose="02020603050405020304" pitchFamily="18" charset="0"/>
              </a:rPr>
              <a:t> Token </a:t>
            </a:r>
            <a:r>
              <a:rPr lang="en-US" sz="3200" dirty="0" err="1">
                <a:latin typeface="Times New Roman" panose="02020603050405020304" pitchFamily="18" charset="0"/>
                <a:cs typeface="Times New Roman" panose="02020603050405020304" pitchFamily="18" charset="0"/>
              </a:rPr>
              <a:t>chứa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cấu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trúc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dính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nợ</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kỹ</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thuật</a:t>
            </a:r>
            <a:r>
              <a:rPr lang="en-US" sz="3200" dirty="0">
                <a:latin typeface="Times New Roman" panose="02020603050405020304" pitchFamily="18" charset="0"/>
                <a:cs typeface="Times New Roman" panose="02020603050405020304" pitchFamily="18" charset="0"/>
              </a:rPr>
              <a:t> Static/Singleton. </a:t>
            </a:r>
          </a:p>
          <a:p>
            <a:pPr algn="just"/>
            <a:r>
              <a:rPr lang="en-US" sz="3200" b="1" dirty="0" err="1">
                <a:latin typeface="Times New Roman" panose="02020603050405020304" pitchFamily="18" charset="0"/>
                <a:cs typeface="Times New Roman" panose="02020603050405020304" pitchFamily="18" charset="0"/>
              </a:rPr>
              <a:t>Bước</a:t>
            </a:r>
            <a:r>
              <a:rPr lang="en-US" sz="3200" b="1" dirty="0">
                <a:latin typeface="Times New Roman" panose="02020603050405020304" pitchFamily="18" charset="0"/>
                <a:cs typeface="Times New Roman" panose="02020603050405020304" pitchFamily="18" charset="0"/>
              </a:rPr>
              <a:t> 3 (Can </a:t>
            </a:r>
            <a:r>
              <a:rPr lang="en-US" sz="3200" b="1" dirty="0" err="1">
                <a:latin typeface="Times New Roman" panose="02020603050405020304" pitchFamily="18" charset="0"/>
                <a:cs typeface="Times New Roman" panose="02020603050405020304" pitchFamily="18" charset="0"/>
              </a:rPr>
              <a:t>thiệp</a:t>
            </a:r>
            <a:r>
              <a:rPr lang="en-US" sz="3200" b="1" dirty="0">
                <a:latin typeface="Times New Roman" panose="02020603050405020304" pitchFamily="18" charset="0"/>
                <a:cs typeface="Times New Roman" panose="02020603050405020304" pitchFamily="18" charset="0"/>
              </a:rPr>
              <a:t> qua </a:t>
            </a:r>
            <a:r>
              <a:rPr lang="en-US" sz="3200" b="1" dirty="0" err="1">
                <a:latin typeface="Times New Roman" panose="02020603050405020304" pitchFamily="18" charset="0"/>
                <a:cs typeface="Times New Roman" panose="02020603050405020304" pitchFamily="18" charset="0"/>
              </a:rPr>
              <a:t>bộ</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nhớ</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đệm</a:t>
            </a:r>
            <a:r>
              <a:rPr lang="en-US" sz="3200" b="1" dirty="0">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Vì</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cây</a:t>
            </a:r>
            <a:r>
              <a:rPr lang="en-US" sz="3200" dirty="0">
                <a:latin typeface="Times New Roman" panose="02020603050405020304" pitchFamily="18" charset="0"/>
                <a:cs typeface="Times New Roman" panose="02020603050405020304" pitchFamily="18" charset="0"/>
              </a:rPr>
              <a:t> AST </a:t>
            </a:r>
            <a:r>
              <a:rPr lang="en-US" sz="3200" dirty="0" err="1">
                <a:latin typeface="Times New Roman" panose="02020603050405020304" pitchFamily="18" charset="0"/>
                <a:cs typeface="Times New Roman" panose="02020603050405020304" pitchFamily="18" charset="0"/>
              </a:rPr>
              <a:t>là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cấu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trúc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bất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biến</a:t>
            </a:r>
            <a:r>
              <a:rPr lang="en-US" sz="3200" dirty="0">
                <a:latin typeface="Times New Roman" panose="02020603050405020304" pitchFamily="18" charset="0"/>
                <a:cs typeface="Times New Roman" panose="02020603050405020304" pitchFamily="18" charset="0"/>
              </a:rPr>
              <a:t>, Listener </a:t>
            </a:r>
            <a:r>
              <a:rPr lang="en-US" sz="3200" dirty="0" err="1">
                <a:latin typeface="Times New Roman" panose="02020603050405020304" pitchFamily="18" charset="0"/>
                <a:cs typeface="Times New Roman" panose="02020603050405020304" pitchFamily="18" charset="0"/>
              </a:rPr>
              <a:t>không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sửa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trực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tiếp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lên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cây</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gửi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lệnh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chèn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sửa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xóa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mã</a:t>
            </a:r>
            <a:r>
              <a:rPr lang="en-US" sz="3200" dirty="0">
                <a:latin typeface="Times New Roman" panose="02020603050405020304" pitchFamily="18" charset="0"/>
                <a:cs typeface="Times New Roman" panose="02020603050405020304" pitchFamily="18" charset="0"/>
              </a:rPr>
              <a:t> (Insert/Replace) sang </a:t>
            </a:r>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bộ</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nhớ</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đệm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trung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gian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gọi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TokenStreamRewriter</a:t>
            </a:r>
            <a:r>
              <a:rPr lang="en-US" sz="3200" dirty="0">
                <a:latin typeface="Times New Roman" panose="02020603050405020304" pitchFamily="18" charset="0"/>
                <a:cs typeface="Times New Roman" panose="02020603050405020304" pitchFamily="18" charset="0"/>
              </a:rPr>
              <a:t>. </a:t>
            </a:r>
          </a:p>
          <a:p>
            <a:pPr algn="just"/>
            <a:r>
              <a:rPr lang="en-US" sz="3200" b="1" dirty="0" err="1">
                <a:latin typeface="Times New Roman" panose="02020603050405020304" pitchFamily="18" charset="0"/>
                <a:cs typeface="Times New Roman" panose="02020603050405020304" pitchFamily="18" charset="0"/>
              </a:rPr>
              <a:t>Bước</a:t>
            </a:r>
            <a:r>
              <a:rPr lang="en-US" sz="3200" b="1" dirty="0">
                <a:latin typeface="Times New Roman" panose="02020603050405020304" pitchFamily="18" charset="0"/>
                <a:cs typeface="Times New Roman" panose="02020603050405020304" pitchFamily="18" charset="0"/>
              </a:rPr>
              <a:t> 4 (</a:t>
            </a:r>
            <a:r>
              <a:rPr lang="en-US" sz="3200" b="1" dirty="0" err="1">
                <a:latin typeface="Times New Roman" panose="02020603050405020304" pitchFamily="18" charset="0"/>
                <a:cs typeface="Times New Roman" panose="02020603050405020304" pitchFamily="18" charset="0"/>
              </a:rPr>
              <a:t>Kết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xuất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mã</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nguồn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sạch</a:t>
            </a:r>
            <a:r>
              <a:rPr lang="en-US" sz="3200" b="1" dirty="0">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TokenStreamRewriter</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dụng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chỉnh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sửa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lên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luồng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dữ</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liệu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gốc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để</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tạo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ra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luồng</a:t>
            </a:r>
            <a:r>
              <a:rPr lang="en-US" sz="3200" dirty="0">
                <a:latin typeface="Times New Roman" panose="02020603050405020304" pitchFamily="18" charset="0"/>
                <a:cs typeface="Times New Roman" panose="02020603050405020304" pitchFamily="18" charset="0"/>
              </a:rPr>
              <a:t> Token </a:t>
            </a:r>
            <a:r>
              <a:rPr lang="en-US" sz="3200" dirty="0" err="1">
                <a:latin typeface="Times New Roman" panose="02020603050405020304" pitchFamily="18" charset="0"/>
                <a:cs typeface="Times New Roman" panose="02020603050405020304" pitchFamily="18" charset="0"/>
              </a:rPr>
              <a:t>mới</a:t>
            </a:r>
            <a:r>
              <a:rPr lang="en-US" sz="3200" dirty="0">
                <a:latin typeface="Times New Roman" panose="02020603050405020304" pitchFamily="18" charset="0"/>
                <a:cs typeface="Times New Roman" panose="02020603050405020304" pitchFamily="18" charset="0"/>
              </a:rPr>
              <a:t> (Modified Token Stream), </a:t>
            </a:r>
            <a:r>
              <a:rPr lang="en-US" sz="3200" dirty="0" err="1">
                <a:latin typeface="Times New Roman" panose="02020603050405020304" pitchFamily="18" charset="0"/>
                <a:cs typeface="Times New Roman" panose="02020603050405020304" pitchFamily="18" charset="0"/>
              </a:rPr>
              <a:t>từ</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đó</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kết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xuất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ra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mã</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nguồn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hoàn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toàn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bẻ</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gãy</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liên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kết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chặt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tối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ưu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khả</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năng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kiểm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thử</a:t>
            </a:r>
            <a:r>
              <a:rPr lang="en-US" sz="3200" dirty="0">
                <a:latin typeface="Times New Roman" panose="02020603050405020304" pitchFamily="18" charset="0"/>
                <a:cs typeface="Times New Roman" panose="02020603050405020304" pitchFamily="18" charset="0"/>
              </a:rPr>
              <a: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557186" y="-5988665"/>
            <a:ext cx="11718479" cy="20832852"/>
          </a:xfrm>
          <a:custGeom>
            <a:avLst/>
            <a:gdLst/>
            <a:ahLst/>
            <a:cxnLst/>
            <a:rect l="l" t="t" r="r" b="b"/>
            <a:pathLst>
              <a:path w="11718479" h="20832852">
                <a:moveTo>
                  <a:pt x="0" y="0"/>
                </a:moveTo>
                <a:lnTo>
                  <a:pt x="11718479" y="0"/>
                </a:lnTo>
                <a:lnTo>
                  <a:pt x="11718479" y="20832851"/>
                </a:lnTo>
                <a:lnTo>
                  <a:pt x="0" y="208328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V="1">
            <a:off x="519025" y="396902"/>
            <a:ext cx="2359274" cy="2359274"/>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a:off x="15486600" y="7366014"/>
            <a:ext cx="2359274" cy="2359274"/>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486600" y="39690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57095" y="7366014"/>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1698662" y="1576539"/>
            <a:ext cx="13787938" cy="7136164"/>
            <a:chOff x="0" y="0"/>
            <a:chExt cx="3631391" cy="1879484"/>
          </a:xfrm>
        </p:grpSpPr>
        <p:sp>
          <p:nvSpPr>
            <p:cNvPr id="8" name="Freeform 8"/>
            <p:cNvSpPr/>
            <p:nvPr/>
          </p:nvSpPr>
          <p:spPr>
            <a:xfrm>
              <a:off x="0" y="0"/>
              <a:ext cx="3631391" cy="1879484"/>
            </a:xfrm>
            <a:custGeom>
              <a:avLst/>
              <a:gdLst/>
              <a:ahLst/>
              <a:cxnLst/>
              <a:rect l="l" t="t" r="r" b="b"/>
              <a:pathLst>
                <a:path w="3631391" h="1879484">
                  <a:moveTo>
                    <a:pt x="28636" y="0"/>
                  </a:moveTo>
                  <a:lnTo>
                    <a:pt x="3602755" y="0"/>
                  </a:lnTo>
                  <a:cubicBezTo>
                    <a:pt x="3618570" y="0"/>
                    <a:pt x="3631391" y="12821"/>
                    <a:pt x="3631391" y="28636"/>
                  </a:cubicBezTo>
                  <a:lnTo>
                    <a:pt x="3631391" y="1850847"/>
                  </a:lnTo>
                  <a:cubicBezTo>
                    <a:pt x="3631391" y="1866663"/>
                    <a:pt x="3618570" y="1879484"/>
                    <a:pt x="3602755" y="1879484"/>
                  </a:cubicBezTo>
                  <a:lnTo>
                    <a:pt x="28636" y="1879484"/>
                  </a:lnTo>
                  <a:cubicBezTo>
                    <a:pt x="12821" y="1879484"/>
                    <a:pt x="0" y="1866663"/>
                    <a:pt x="0" y="1850847"/>
                  </a:cubicBezTo>
                  <a:lnTo>
                    <a:pt x="0" y="28636"/>
                  </a:lnTo>
                  <a:cubicBezTo>
                    <a:pt x="0" y="12821"/>
                    <a:pt x="12821" y="0"/>
                    <a:pt x="28636" y="0"/>
                  </a:cubicBezTo>
                  <a:close/>
                </a:path>
              </a:pathLst>
            </a:custGeom>
            <a:solidFill>
              <a:srgbClr val="DBE0ED"/>
            </a:solidFill>
          </p:spPr>
          <p:txBody>
            <a:bodyPr/>
            <a:lstStyle/>
            <a:p>
              <a:endParaRPr lang="en-US"/>
            </a:p>
          </p:txBody>
        </p:sp>
        <p:sp>
          <p:nvSpPr>
            <p:cNvPr id="9" name="TextBox 9"/>
            <p:cNvSpPr txBox="1"/>
            <p:nvPr/>
          </p:nvSpPr>
          <p:spPr>
            <a:xfrm>
              <a:off x="0" y="-85725"/>
              <a:ext cx="3631391" cy="1965209"/>
            </a:xfrm>
            <a:prstGeom prst="rect">
              <a:avLst/>
            </a:prstGeom>
          </p:spPr>
          <p:txBody>
            <a:bodyPr lIns="50800" tIns="50800" rIns="50800" bIns="50800" rtlCol="0" anchor="ctr"/>
            <a:lstStyle/>
            <a:p>
              <a:pPr marL="0" lvl="0" indent="0" algn="ctr">
                <a:lnSpc>
                  <a:spcPts val="4759"/>
                </a:lnSpc>
                <a:spcBef>
                  <a:spcPct val="0"/>
                </a:spcBef>
              </a:pPr>
              <a:endParaRPr/>
            </a:p>
          </p:txBody>
        </p:sp>
      </p:grpSp>
      <p:sp>
        <p:nvSpPr>
          <p:cNvPr id="10" name="TextBox 10"/>
          <p:cNvSpPr txBox="1"/>
          <p:nvPr/>
        </p:nvSpPr>
        <p:spPr>
          <a:xfrm>
            <a:off x="3581323" y="425477"/>
            <a:ext cx="11202254" cy="730250"/>
          </a:xfrm>
          <a:prstGeom prst="rect">
            <a:avLst/>
          </a:prstGeom>
        </p:spPr>
        <p:txBody>
          <a:bodyPr lIns="0" tIns="0" rIns="0" bIns="0" rtlCol="0" anchor="t">
            <a:spAutoFit/>
          </a:bodyPr>
          <a:lstStyle/>
          <a:p>
            <a:pPr marL="0" lvl="0" indent="0" algn="ctr">
              <a:lnSpc>
                <a:spcPts val="5350"/>
              </a:lnSpc>
            </a:pPr>
            <a:r>
              <a:rPr lang="en-US" sz="5000" b="1">
                <a:solidFill>
                  <a:srgbClr val="000000"/>
                </a:solidFill>
                <a:latin typeface="Times New Roman Bold"/>
                <a:ea typeface="Times New Roman Bold"/>
                <a:cs typeface="Times New Roman Bold"/>
                <a:sym typeface="Times New Roman Bold"/>
              </a:rPr>
              <a:t>Pipeline xử lý ANTLR trong Refactoring</a:t>
            </a:r>
          </a:p>
        </p:txBody>
      </p:sp>
      <p:sp>
        <p:nvSpPr>
          <p:cNvPr id="11" name="TextBox 11"/>
          <p:cNvSpPr txBox="1"/>
          <p:nvPr/>
        </p:nvSpPr>
        <p:spPr>
          <a:xfrm>
            <a:off x="2442078" y="2455777"/>
            <a:ext cx="12301106" cy="5244338"/>
          </a:xfrm>
          <a:prstGeom prst="rect">
            <a:avLst/>
          </a:prstGeom>
        </p:spPr>
        <p:txBody>
          <a:bodyPr lIns="0" tIns="0" rIns="0" bIns="0" rtlCol="0" anchor="t">
            <a:spAutoFit/>
          </a:bodyPr>
          <a:lstStyle/>
          <a:p>
            <a:pPr marL="0" lvl="0" indent="0" algn="ctr">
              <a:lnSpc>
                <a:spcPts val="5235"/>
              </a:lnSpc>
            </a:pPr>
            <a:r>
              <a:rPr lang="en-US" sz="3399">
                <a:solidFill>
                  <a:srgbClr val="000000"/>
                </a:solidFill>
                <a:latin typeface="Times New Roman"/>
                <a:ea typeface="Times New Roman"/>
                <a:cs typeface="Times New Roman"/>
                <a:sym typeface="Times New Roman"/>
              </a:rPr>
              <a:t>Luồng xử lý tự động dựa trên tệp ngữ pháp .g4:</a:t>
            </a:r>
          </a:p>
          <a:p>
            <a:pPr marL="0" lvl="0" indent="0" algn="ctr">
              <a:lnSpc>
                <a:spcPts val="5235"/>
              </a:lnSpc>
            </a:pPr>
            <a:r>
              <a:rPr lang="en-US" sz="3399">
                <a:solidFill>
                  <a:srgbClr val="000000"/>
                </a:solidFill>
                <a:latin typeface="Times New Roman"/>
                <a:ea typeface="Times New Roman"/>
                <a:cs typeface="Times New Roman"/>
                <a:sym typeface="Times New Roman"/>
              </a:rPr>
              <a:t>① Source Code  →  ② Lexer (Token Stream)  →  ③ Parser (AST)</a:t>
            </a:r>
          </a:p>
          <a:p>
            <a:pPr marL="0" lvl="0" indent="0" algn="ctr">
              <a:lnSpc>
                <a:spcPts val="5235"/>
              </a:lnSpc>
            </a:pPr>
            <a:r>
              <a:rPr lang="en-US" sz="3399">
                <a:solidFill>
                  <a:srgbClr val="000000"/>
                </a:solidFill>
                <a:latin typeface="Times New Roman"/>
                <a:ea typeface="Times New Roman"/>
                <a:cs typeface="Times New Roman"/>
                <a:sym typeface="Times New Roman"/>
              </a:rPr>
              <a:t>→  ④ Listener / Visitor (DFS Traversal)  →  ⑤ TokenStreamRewriter</a:t>
            </a:r>
          </a:p>
          <a:p>
            <a:pPr marL="0" lvl="0" indent="0" algn="ctr">
              <a:lnSpc>
                <a:spcPts val="5235"/>
              </a:lnSpc>
            </a:pPr>
            <a:r>
              <a:rPr lang="en-US" sz="3399">
                <a:solidFill>
                  <a:srgbClr val="000000"/>
                </a:solidFill>
                <a:latin typeface="Times New Roman"/>
                <a:ea typeface="Times New Roman"/>
                <a:cs typeface="Times New Roman"/>
                <a:sym typeface="Times New Roman"/>
              </a:rPr>
              <a:t>→  ⑥ Refactored Code (Output)</a:t>
            </a:r>
          </a:p>
          <a:p>
            <a:pPr marL="0" lvl="0" indent="0" algn="ctr">
              <a:lnSpc>
                <a:spcPts val="5235"/>
              </a:lnSpc>
            </a:pPr>
            <a:r>
              <a:rPr lang="en-US" sz="3399">
                <a:solidFill>
                  <a:srgbClr val="000000"/>
                </a:solidFill>
                <a:latin typeface="Times New Roman"/>
                <a:ea typeface="Times New Roman"/>
                <a:cs typeface="Times New Roman"/>
                <a:sym typeface="Times New Roman"/>
              </a:rPr>
              <a:t>• Lexer: phân tách mã nguồn thành các token theo luật từ vựng</a:t>
            </a:r>
          </a:p>
          <a:p>
            <a:pPr marL="0" lvl="0" indent="0" algn="ctr">
              <a:lnSpc>
                <a:spcPts val="5235"/>
              </a:lnSpc>
            </a:pPr>
            <a:r>
              <a:rPr lang="en-US" sz="3399">
                <a:solidFill>
                  <a:srgbClr val="000000"/>
                </a:solidFill>
                <a:latin typeface="Times New Roman"/>
                <a:ea typeface="Times New Roman"/>
                <a:cs typeface="Times New Roman"/>
                <a:sym typeface="Times New Roman"/>
              </a:rPr>
              <a:t>• Parser: xây dựng cây cú pháp AST từ token stream</a:t>
            </a:r>
          </a:p>
          <a:p>
            <a:pPr marL="0" lvl="0" indent="0" algn="ctr">
              <a:lnSpc>
                <a:spcPts val="5235"/>
              </a:lnSpc>
            </a:pPr>
            <a:r>
              <a:rPr lang="en-US" sz="3399">
                <a:solidFill>
                  <a:srgbClr val="000000"/>
                </a:solidFill>
                <a:latin typeface="Times New Roman"/>
                <a:ea typeface="Times New Roman"/>
                <a:cs typeface="Times New Roman"/>
                <a:sym typeface="Times New Roman"/>
              </a:rPr>
              <a:t>• Listener/Visitor: duyệt cây, phát hiện code smell cần refactor</a:t>
            </a:r>
          </a:p>
          <a:p>
            <a:pPr marL="0" lvl="0" indent="0" algn="ctr">
              <a:lnSpc>
                <a:spcPts val="5235"/>
              </a:lnSpc>
            </a:pPr>
            <a:r>
              <a:rPr lang="en-US" sz="3399">
                <a:solidFill>
                  <a:srgbClr val="000000"/>
                </a:solidFill>
                <a:latin typeface="Times New Roman"/>
                <a:ea typeface="Times New Roman"/>
                <a:cs typeface="Times New Roman"/>
                <a:sym typeface="Times New Roman"/>
              </a:rPr>
              <a:t>• TokenStreamRewriter: ghi đè token để sinh mã nguồn sạch</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557186" y="-5988665"/>
            <a:ext cx="11718479" cy="20832852"/>
          </a:xfrm>
          <a:custGeom>
            <a:avLst/>
            <a:gdLst/>
            <a:ahLst/>
            <a:cxnLst/>
            <a:rect l="l" t="t" r="r" b="b"/>
            <a:pathLst>
              <a:path w="11718479" h="20832852">
                <a:moveTo>
                  <a:pt x="0" y="0"/>
                </a:moveTo>
                <a:lnTo>
                  <a:pt x="11718479" y="0"/>
                </a:lnTo>
                <a:lnTo>
                  <a:pt x="11718479" y="20832851"/>
                </a:lnTo>
                <a:lnTo>
                  <a:pt x="0" y="208328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V="1">
            <a:off x="519025" y="396902"/>
            <a:ext cx="2359274" cy="2359274"/>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a:off x="15486600" y="7366014"/>
            <a:ext cx="2359274" cy="2359274"/>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486600" y="39690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57095" y="7366014"/>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3110214" y="3365141"/>
            <a:ext cx="12376386" cy="5138605"/>
            <a:chOff x="0" y="0"/>
            <a:chExt cx="3259624" cy="1353377"/>
          </a:xfrm>
        </p:grpSpPr>
        <p:sp>
          <p:nvSpPr>
            <p:cNvPr id="8" name="Freeform 8"/>
            <p:cNvSpPr/>
            <p:nvPr/>
          </p:nvSpPr>
          <p:spPr>
            <a:xfrm>
              <a:off x="0" y="0"/>
              <a:ext cx="3259624" cy="1353377"/>
            </a:xfrm>
            <a:custGeom>
              <a:avLst/>
              <a:gdLst/>
              <a:ahLst/>
              <a:cxnLst/>
              <a:rect l="l" t="t" r="r" b="b"/>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solidFill>
          </p:spPr>
          <p:txBody>
            <a:bodyPr/>
            <a:lstStyle/>
            <a:p>
              <a:endParaRPr lang="en-US"/>
            </a:p>
          </p:txBody>
        </p:sp>
        <p:sp>
          <p:nvSpPr>
            <p:cNvPr id="9" name="TextBox 9"/>
            <p:cNvSpPr txBox="1"/>
            <p:nvPr/>
          </p:nvSpPr>
          <p:spPr>
            <a:xfrm>
              <a:off x="0" y="-85725"/>
              <a:ext cx="3259624" cy="1439102"/>
            </a:xfrm>
            <a:prstGeom prst="rect">
              <a:avLst/>
            </a:prstGeom>
          </p:spPr>
          <p:txBody>
            <a:bodyPr lIns="50800" tIns="50800" rIns="50800" bIns="50800" rtlCol="0" anchor="ctr"/>
            <a:lstStyle/>
            <a:p>
              <a:pPr marL="0" lvl="0" indent="0" algn="ctr">
                <a:lnSpc>
                  <a:spcPts val="4759"/>
                </a:lnSpc>
                <a:spcBef>
                  <a:spcPct val="0"/>
                </a:spcBef>
              </a:pPr>
              <a:endParaRPr/>
            </a:p>
          </p:txBody>
        </p:sp>
      </p:grpSp>
      <p:sp>
        <p:nvSpPr>
          <p:cNvPr id="10" name="TextBox 10"/>
          <p:cNvSpPr txBox="1"/>
          <p:nvPr/>
        </p:nvSpPr>
        <p:spPr>
          <a:xfrm>
            <a:off x="4304507" y="1605114"/>
            <a:ext cx="9678986" cy="730250"/>
          </a:xfrm>
          <a:prstGeom prst="rect">
            <a:avLst/>
          </a:prstGeom>
        </p:spPr>
        <p:txBody>
          <a:bodyPr lIns="0" tIns="0" rIns="0" bIns="0" rtlCol="0" anchor="t">
            <a:spAutoFit/>
          </a:bodyPr>
          <a:lstStyle/>
          <a:p>
            <a:pPr marL="0" lvl="0" indent="0" algn="ctr">
              <a:lnSpc>
                <a:spcPts val="5350"/>
              </a:lnSpc>
            </a:pPr>
            <a:r>
              <a:rPr lang="en-US" sz="5000" b="1">
                <a:solidFill>
                  <a:srgbClr val="000000"/>
                </a:solidFill>
                <a:latin typeface="Times New Roman Bold"/>
                <a:ea typeface="Times New Roman Bold"/>
                <a:cs typeface="Times New Roman Bold"/>
                <a:sym typeface="Times New Roman Bold"/>
              </a:rPr>
              <a:t>Kiến trúc hệ thống RefactorTool</a:t>
            </a:r>
          </a:p>
        </p:txBody>
      </p:sp>
      <p:sp>
        <p:nvSpPr>
          <p:cNvPr id="11" name="TextBox 11"/>
          <p:cNvSpPr txBox="1"/>
          <p:nvPr/>
        </p:nvSpPr>
        <p:spPr>
          <a:xfrm>
            <a:off x="3730586" y="3259408"/>
            <a:ext cx="11135643" cy="5244338"/>
          </a:xfrm>
          <a:prstGeom prst="rect">
            <a:avLst/>
          </a:prstGeom>
        </p:spPr>
        <p:txBody>
          <a:bodyPr lIns="0" tIns="0" rIns="0" bIns="0" rtlCol="0" anchor="t">
            <a:spAutoFit/>
          </a:bodyPr>
          <a:lstStyle/>
          <a:p>
            <a:pPr marL="0" lvl="0" indent="0" algn="ctr">
              <a:lnSpc>
                <a:spcPts val="5235"/>
              </a:lnSpc>
            </a:pPr>
            <a:r>
              <a:rPr lang="en-US" sz="3399">
                <a:solidFill>
                  <a:srgbClr val="000000"/>
                </a:solidFill>
                <a:latin typeface="Times New Roman"/>
                <a:ea typeface="Times New Roman"/>
                <a:cs typeface="Times New Roman"/>
                <a:sym typeface="Times New Roman"/>
              </a:rPr>
              <a:t>🛠 Môi trường phát triển: VS Code, Apache Maven, ANTLR 4</a:t>
            </a:r>
          </a:p>
          <a:p>
            <a:pPr marL="0" lvl="0" indent="0" algn="ctr">
              <a:lnSpc>
                <a:spcPts val="5235"/>
              </a:lnSpc>
            </a:pPr>
            <a:r>
              <a:rPr lang="en-US" sz="3399">
                <a:solidFill>
                  <a:srgbClr val="000000"/>
                </a:solidFill>
                <a:latin typeface="Times New Roman"/>
                <a:ea typeface="Times New Roman"/>
                <a:cs typeface="Times New Roman"/>
                <a:sym typeface="Times New Roman"/>
              </a:rPr>
              <a:t>📁 Phân lớp phẳng:</a:t>
            </a:r>
          </a:p>
          <a:p>
            <a:pPr marL="0" lvl="0" indent="0" algn="ctr">
              <a:lnSpc>
                <a:spcPts val="5235"/>
              </a:lnSpc>
            </a:pPr>
            <a:r>
              <a:rPr lang="en-US" sz="3399">
                <a:solidFill>
                  <a:srgbClr val="000000"/>
                </a:solidFill>
                <a:latin typeface="Times New Roman"/>
                <a:ea typeface="Times New Roman"/>
                <a:cs typeface="Times New Roman"/>
                <a:sym typeface="Times New Roman"/>
              </a:rPr>
              <a:t>• Thư mục input/ – chứa mã nguồn gốc (code smell)</a:t>
            </a:r>
          </a:p>
          <a:p>
            <a:pPr marL="0" lvl="0" indent="0" algn="ctr">
              <a:lnSpc>
                <a:spcPts val="5235"/>
              </a:lnSpc>
            </a:pPr>
            <a:r>
              <a:rPr lang="en-US" sz="3399">
                <a:solidFill>
                  <a:srgbClr val="000000"/>
                </a:solidFill>
                <a:latin typeface="Times New Roman"/>
                <a:ea typeface="Times New Roman"/>
                <a:cs typeface="Times New Roman"/>
                <a:sym typeface="Times New Roman"/>
              </a:rPr>
              <a:t>• Thư mục output/ – chứa mã đã được refactor tự động</a:t>
            </a:r>
          </a:p>
          <a:p>
            <a:pPr marL="0" lvl="0" indent="0" algn="ctr">
              <a:lnSpc>
                <a:spcPts val="5235"/>
              </a:lnSpc>
            </a:pPr>
            <a:r>
              <a:rPr lang="en-US" sz="3399">
                <a:solidFill>
                  <a:srgbClr val="000000"/>
                </a:solidFill>
                <a:latin typeface="Times New Roman"/>
                <a:ea typeface="Times New Roman"/>
                <a:cs typeface="Times New Roman"/>
                <a:sym typeface="Times New Roman"/>
              </a:rPr>
              <a:t>⚙ Các module xử lý chính:</a:t>
            </a:r>
          </a:p>
          <a:p>
            <a:pPr marL="0" lvl="0" indent="0" algn="ctr">
              <a:lnSpc>
                <a:spcPts val="5235"/>
              </a:lnSpc>
            </a:pPr>
            <a:r>
              <a:rPr lang="en-US" sz="3399">
                <a:solidFill>
                  <a:srgbClr val="000000"/>
                </a:solidFill>
                <a:latin typeface="Times New Roman"/>
                <a:ea typeface="Times New Roman"/>
                <a:cs typeface="Times New Roman"/>
                <a:sym typeface="Times New Roman"/>
              </a:rPr>
              <a:t>• Grammar Module: tệp Refactor.g4 định nghĩa luật cú pháp</a:t>
            </a:r>
          </a:p>
          <a:p>
            <a:pPr marL="0" lvl="0" indent="0" algn="ctr">
              <a:lnSpc>
                <a:spcPts val="5235"/>
              </a:lnSpc>
            </a:pPr>
            <a:r>
              <a:rPr lang="en-US" sz="3399">
                <a:solidFill>
                  <a:srgbClr val="000000"/>
                </a:solidFill>
                <a:latin typeface="Times New Roman"/>
                <a:ea typeface="Times New Roman"/>
                <a:cs typeface="Times New Roman"/>
                <a:sym typeface="Times New Roman"/>
              </a:rPr>
              <a:t>• Listener Module: RefactorListenerImpl duyệt cây AST</a:t>
            </a:r>
          </a:p>
          <a:p>
            <a:pPr marL="0" lvl="0" indent="0" algn="ctr">
              <a:lnSpc>
                <a:spcPts val="5235"/>
              </a:lnSpc>
            </a:pPr>
            <a:r>
              <a:rPr lang="en-US" sz="3399">
                <a:solidFill>
                  <a:srgbClr val="000000"/>
                </a:solidFill>
                <a:latin typeface="Times New Roman"/>
                <a:ea typeface="Times New Roman"/>
                <a:cs typeface="Times New Roman"/>
                <a:sym typeface="Times New Roman"/>
              </a:rPr>
              <a:t>• Rewriter Module: TokenStreamRewriter tái tạo mã sạch</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557186" y="-5988665"/>
            <a:ext cx="11718479" cy="20832852"/>
          </a:xfrm>
          <a:custGeom>
            <a:avLst/>
            <a:gdLst/>
            <a:ahLst/>
            <a:cxnLst/>
            <a:rect l="l" t="t" r="r" b="b"/>
            <a:pathLst>
              <a:path w="11718479" h="20832852">
                <a:moveTo>
                  <a:pt x="0" y="0"/>
                </a:moveTo>
                <a:lnTo>
                  <a:pt x="11718479" y="0"/>
                </a:lnTo>
                <a:lnTo>
                  <a:pt x="11718479" y="20832851"/>
                </a:lnTo>
                <a:lnTo>
                  <a:pt x="0" y="208328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V="1">
            <a:off x="519025" y="396902"/>
            <a:ext cx="2359274" cy="2359274"/>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a:off x="15486600" y="7366014"/>
            <a:ext cx="2359274" cy="2359274"/>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486600" y="39690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57095" y="7366014"/>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2629741" y="3194621"/>
            <a:ext cx="13028518" cy="2466279"/>
            <a:chOff x="0" y="0"/>
            <a:chExt cx="3431379" cy="649555"/>
          </a:xfrm>
        </p:grpSpPr>
        <p:sp>
          <p:nvSpPr>
            <p:cNvPr id="8" name="Freeform 8"/>
            <p:cNvSpPr/>
            <p:nvPr/>
          </p:nvSpPr>
          <p:spPr>
            <a:xfrm>
              <a:off x="0" y="0"/>
              <a:ext cx="3431379" cy="649555"/>
            </a:xfrm>
            <a:custGeom>
              <a:avLst/>
              <a:gdLst/>
              <a:ahLst/>
              <a:cxnLst/>
              <a:rect l="l" t="t" r="r" b="b"/>
              <a:pathLst>
                <a:path w="3431379" h="649555">
                  <a:moveTo>
                    <a:pt x="30306" y="0"/>
                  </a:moveTo>
                  <a:lnTo>
                    <a:pt x="3401074" y="0"/>
                  </a:lnTo>
                  <a:cubicBezTo>
                    <a:pt x="3409111" y="0"/>
                    <a:pt x="3416820" y="3193"/>
                    <a:pt x="3422503" y="8876"/>
                  </a:cubicBezTo>
                  <a:cubicBezTo>
                    <a:pt x="3428186" y="14560"/>
                    <a:pt x="3431379" y="22268"/>
                    <a:pt x="3431379" y="30306"/>
                  </a:cubicBezTo>
                  <a:lnTo>
                    <a:pt x="3431379" y="619249"/>
                  </a:lnTo>
                  <a:cubicBezTo>
                    <a:pt x="3431379" y="627287"/>
                    <a:pt x="3428186" y="634995"/>
                    <a:pt x="3422503" y="640679"/>
                  </a:cubicBezTo>
                  <a:cubicBezTo>
                    <a:pt x="3416820" y="646362"/>
                    <a:pt x="3409111" y="649555"/>
                    <a:pt x="3401074" y="649555"/>
                  </a:cubicBezTo>
                  <a:lnTo>
                    <a:pt x="30306" y="649555"/>
                  </a:lnTo>
                  <a:cubicBezTo>
                    <a:pt x="22268" y="649555"/>
                    <a:pt x="14560" y="646362"/>
                    <a:pt x="8876" y="640679"/>
                  </a:cubicBezTo>
                  <a:cubicBezTo>
                    <a:pt x="3193" y="634995"/>
                    <a:pt x="0" y="627287"/>
                    <a:pt x="0" y="619249"/>
                  </a:cubicBezTo>
                  <a:lnTo>
                    <a:pt x="0" y="30306"/>
                  </a:lnTo>
                  <a:cubicBezTo>
                    <a:pt x="0" y="22268"/>
                    <a:pt x="3193" y="14560"/>
                    <a:pt x="8876" y="8876"/>
                  </a:cubicBezTo>
                  <a:cubicBezTo>
                    <a:pt x="14560" y="3193"/>
                    <a:pt x="22268" y="0"/>
                    <a:pt x="30306" y="0"/>
                  </a:cubicBezTo>
                  <a:close/>
                </a:path>
              </a:pathLst>
            </a:custGeom>
            <a:solidFill>
              <a:srgbClr val="DBE0ED"/>
            </a:solidFill>
          </p:spPr>
          <p:txBody>
            <a:bodyPr/>
            <a:lstStyle/>
            <a:p>
              <a:endParaRPr lang="en-US"/>
            </a:p>
          </p:txBody>
        </p:sp>
        <p:sp>
          <p:nvSpPr>
            <p:cNvPr id="9" name="TextBox 9"/>
            <p:cNvSpPr txBox="1"/>
            <p:nvPr/>
          </p:nvSpPr>
          <p:spPr>
            <a:xfrm>
              <a:off x="0" y="-85725"/>
              <a:ext cx="3431379" cy="735280"/>
            </a:xfrm>
            <a:prstGeom prst="rect">
              <a:avLst/>
            </a:prstGeom>
          </p:spPr>
          <p:txBody>
            <a:bodyPr lIns="50800" tIns="50800" rIns="50800" bIns="50800" rtlCol="0" anchor="ctr"/>
            <a:lstStyle/>
            <a:p>
              <a:pPr marL="0" lvl="0" indent="0" algn="ctr">
                <a:lnSpc>
                  <a:spcPts val="4759"/>
                </a:lnSpc>
                <a:spcBef>
                  <a:spcPct val="0"/>
                </a:spcBef>
              </a:pPr>
              <a:endParaRPr/>
            </a:p>
          </p:txBody>
        </p:sp>
      </p:grpSp>
      <p:sp>
        <p:nvSpPr>
          <p:cNvPr id="10" name="TextBox 10"/>
          <p:cNvSpPr txBox="1"/>
          <p:nvPr/>
        </p:nvSpPr>
        <p:spPr>
          <a:xfrm>
            <a:off x="3311082" y="1362285"/>
            <a:ext cx="13189030" cy="730250"/>
          </a:xfrm>
          <a:prstGeom prst="rect">
            <a:avLst/>
          </a:prstGeom>
        </p:spPr>
        <p:txBody>
          <a:bodyPr lIns="0" tIns="0" rIns="0" bIns="0" rtlCol="0" anchor="t">
            <a:spAutoFit/>
          </a:bodyPr>
          <a:lstStyle/>
          <a:p>
            <a:pPr marL="0" lvl="0" indent="0" algn="l">
              <a:lnSpc>
                <a:spcPts val="5350"/>
              </a:lnSpc>
            </a:pPr>
            <a:r>
              <a:rPr lang="en-US" sz="5000" b="1">
                <a:solidFill>
                  <a:srgbClr val="000000"/>
                </a:solidFill>
                <a:latin typeface="Times New Roman Bold"/>
                <a:ea typeface="Times New Roman Bold"/>
                <a:cs typeface="Times New Roman Bold"/>
                <a:sym typeface="Times New Roman Bold"/>
              </a:rPr>
              <a:t>Xây dựng luật ngữ pháp &amp; Module biến đổi</a:t>
            </a:r>
          </a:p>
        </p:txBody>
      </p:sp>
      <p:sp>
        <p:nvSpPr>
          <p:cNvPr id="11" name="TextBox 11"/>
          <p:cNvSpPr txBox="1"/>
          <p:nvPr/>
        </p:nvSpPr>
        <p:spPr>
          <a:xfrm>
            <a:off x="3777656" y="3381979"/>
            <a:ext cx="11521964" cy="1958213"/>
          </a:xfrm>
          <a:prstGeom prst="rect">
            <a:avLst/>
          </a:prstGeom>
        </p:spPr>
        <p:txBody>
          <a:bodyPr lIns="0" tIns="0" rIns="0" bIns="0" rtlCol="0" anchor="t">
            <a:spAutoFit/>
          </a:bodyPr>
          <a:lstStyle/>
          <a:p>
            <a:pPr marL="0" lvl="0" indent="0" algn="l">
              <a:lnSpc>
                <a:spcPts val="5235"/>
              </a:lnSpc>
            </a:pPr>
            <a:r>
              <a:rPr lang="en-US" sz="3399">
                <a:solidFill>
                  <a:srgbClr val="000000"/>
                </a:solidFill>
                <a:latin typeface="Times New Roman"/>
                <a:ea typeface="Times New Roman"/>
                <a:cs typeface="Times New Roman"/>
                <a:sym typeface="Times New Roman"/>
              </a:rPr>
              <a:t>Tệp ngữ pháp Refactor.g4 định nghĩa luật nhận diện lời gọi dependencyCall cứng — xác định chính xác các mẫu mã cần refactor thông qua cú pháp khai báo ngữ pháp ANTLR 4.</a:t>
            </a:r>
          </a:p>
        </p:txBody>
      </p:sp>
      <p:grpSp>
        <p:nvGrpSpPr>
          <p:cNvPr id="12" name="Group 12"/>
          <p:cNvGrpSpPr/>
          <p:nvPr/>
        </p:nvGrpSpPr>
        <p:grpSpPr>
          <a:xfrm>
            <a:off x="2629741" y="6060950"/>
            <a:ext cx="13028518" cy="2466279"/>
            <a:chOff x="0" y="0"/>
            <a:chExt cx="3431379" cy="649555"/>
          </a:xfrm>
        </p:grpSpPr>
        <p:sp>
          <p:nvSpPr>
            <p:cNvPr id="13" name="Freeform 13"/>
            <p:cNvSpPr/>
            <p:nvPr/>
          </p:nvSpPr>
          <p:spPr>
            <a:xfrm>
              <a:off x="0" y="0"/>
              <a:ext cx="3431379" cy="649555"/>
            </a:xfrm>
            <a:custGeom>
              <a:avLst/>
              <a:gdLst/>
              <a:ahLst/>
              <a:cxnLst/>
              <a:rect l="l" t="t" r="r" b="b"/>
              <a:pathLst>
                <a:path w="3431379" h="649555">
                  <a:moveTo>
                    <a:pt x="30306" y="0"/>
                  </a:moveTo>
                  <a:lnTo>
                    <a:pt x="3401074" y="0"/>
                  </a:lnTo>
                  <a:cubicBezTo>
                    <a:pt x="3409111" y="0"/>
                    <a:pt x="3416820" y="3193"/>
                    <a:pt x="3422503" y="8876"/>
                  </a:cubicBezTo>
                  <a:cubicBezTo>
                    <a:pt x="3428186" y="14560"/>
                    <a:pt x="3431379" y="22268"/>
                    <a:pt x="3431379" y="30306"/>
                  </a:cubicBezTo>
                  <a:lnTo>
                    <a:pt x="3431379" y="619249"/>
                  </a:lnTo>
                  <a:cubicBezTo>
                    <a:pt x="3431379" y="627287"/>
                    <a:pt x="3428186" y="634995"/>
                    <a:pt x="3422503" y="640679"/>
                  </a:cubicBezTo>
                  <a:cubicBezTo>
                    <a:pt x="3416820" y="646362"/>
                    <a:pt x="3409111" y="649555"/>
                    <a:pt x="3401074" y="649555"/>
                  </a:cubicBezTo>
                  <a:lnTo>
                    <a:pt x="30306" y="649555"/>
                  </a:lnTo>
                  <a:cubicBezTo>
                    <a:pt x="22268" y="649555"/>
                    <a:pt x="14560" y="646362"/>
                    <a:pt x="8876" y="640679"/>
                  </a:cubicBezTo>
                  <a:cubicBezTo>
                    <a:pt x="3193" y="634995"/>
                    <a:pt x="0" y="627287"/>
                    <a:pt x="0" y="619249"/>
                  </a:cubicBezTo>
                  <a:lnTo>
                    <a:pt x="0" y="30306"/>
                  </a:lnTo>
                  <a:cubicBezTo>
                    <a:pt x="0" y="22268"/>
                    <a:pt x="3193" y="14560"/>
                    <a:pt x="8876" y="8876"/>
                  </a:cubicBezTo>
                  <a:cubicBezTo>
                    <a:pt x="14560" y="3193"/>
                    <a:pt x="22268" y="0"/>
                    <a:pt x="30306" y="0"/>
                  </a:cubicBezTo>
                  <a:close/>
                </a:path>
              </a:pathLst>
            </a:custGeom>
            <a:solidFill>
              <a:srgbClr val="DBE0ED"/>
            </a:solidFill>
          </p:spPr>
          <p:txBody>
            <a:bodyPr/>
            <a:lstStyle/>
            <a:p>
              <a:endParaRPr lang="en-US"/>
            </a:p>
          </p:txBody>
        </p:sp>
        <p:sp>
          <p:nvSpPr>
            <p:cNvPr id="14" name="TextBox 14"/>
            <p:cNvSpPr txBox="1"/>
            <p:nvPr/>
          </p:nvSpPr>
          <p:spPr>
            <a:xfrm>
              <a:off x="0" y="-85725"/>
              <a:ext cx="3431379" cy="735280"/>
            </a:xfrm>
            <a:prstGeom prst="rect">
              <a:avLst/>
            </a:prstGeom>
          </p:spPr>
          <p:txBody>
            <a:bodyPr lIns="50800" tIns="50800" rIns="50800" bIns="50800" rtlCol="0" anchor="ctr"/>
            <a:lstStyle/>
            <a:p>
              <a:pPr marL="0" lvl="0" indent="0" algn="ctr">
                <a:lnSpc>
                  <a:spcPts val="4759"/>
                </a:lnSpc>
                <a:spcBef>
                  <a:spcPct val="0"/>
                </a:spcBef>
              </a:pPr>
              <a:endParaRPr/>
            </a:p>
          </p:txBody>
        </p:sp>
      </p:grpSp>
      <p:sp>
        <p:nvSpPr>
          <p:cNvPr id="15" name="TextBox 15"/>
          <p:cNvSpPr txBox="1"/>
          <p:nvPr/>
        </p:nvSpPr>
        <p:spPr>
          <a:xfrm>
            <a:off x="3777656" y="6248308"/>
            <a:ext cx="11401232" cy="1958213"/>
          </a:xfrm>
          <a:prstGeom prst="rect">
            <a:avLst/>
          </a:prstGeom>
        </p:spPr>
        <p:txBody>
          <a:bodyPr lIns="0" tIns="0" rIns="0" bIns="0" rtlCol="0" anchor="t">
            <a:spAutoFit/>
          </a:bodyPr>
          <a:lstStyle/>
          <a:p>
            <a:pPr marL="0" lvl="0" indent="0" algn="l">
              <a:lnSpc>
                <a:spcPts val="5235"/>
              </a:lnSpc>
            </a:pPr>
            <a:r>
              <a:rPr lang="en-US" sz="3399">
                <a:solidFill>
                  <a:srgbClr val="000000"/>
                </a:solidFill>
                <a:latin typeface="Times New Roman"/>
                <a:ea typeface="Times New Roman"/>
                <a:cs typeface="Times New Roman"/>
                <a:sym typeface="Times New Roman"/>
              </a:rPr>
              <a:t>RefactorListenerImpl.java kế thừa RefactorBaseListener, sử dụng chiến lược DFS (Depth-First Search) để bắt sự kiện duyệt cây cú pháp và thực thi biến đổi mã nguồn tại đúng vị trí.</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557186" y="-5988665"/>
            <a:ext cx="11718479" cy="20832852"/>
          </a:xfrm>
          <a:custGeom>
            <a:avLst/>
            <a:gdLst/>
            <a:ahLst/>
            <a:cxnLst/>
            <a:rect l="l" t="t" r="r" b="b"/>
            <a:pathLst>
              <a:path w="11718479" h="20832852">
                <a:moveTo>
                  <a:pt x="0" y="0"/>
                </a:moveTo>
                <a:lnTo>
                  <a:pt x="11718479" y="0"/>
                </a:lnTo>
                <a:lnTo>
                  <a:pt x="11718479" y="20832851"/>
                </a:lnTo>
                <a:lnTo>
                  <a:pt x="0" y="208328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V="1">
            <a:off x="519025" y="396902"/>
            <a:ext cx="2359274" cy="2359274"/>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a:off x="15486600" y="7366014"/>
            <a:ext cx="2359274" cy="2359274"/>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486600" y="39690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57095" y="7366014"/>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3110214" y="2592506"/>
            <a:ext cx="12376386" cy="5911240"/>
            <a:chOff x="0" y="0"/>
            <a:chExt cx="3259624" cy="1556870"/>
          </a:xfrm>
        </p:grpSpPr>
        <p:sp>
          <p:nvSpPr>
            <p:cNvPr id="8" name="Freeform 8"/>
            <p:cNvSpPr/>
            <p:nvPr/>
          </p:nvSpPr>
          <p:spPr>
            <a:xfrm>
              <a:off x="0" y="0"/>
              <a:ext cx="3259624" cy="1556870"/>
            </a:xfrm>
            <a:custGeom>
              <a:avLst/>
              <a:gdLst/>
              <a:ahLst/>
              <a:cxnLst/>
              <a:rect l="l" t="t" r="r" b="b"/>
              <a:pathLst>
                <a:path w="3259624" h="1556870">
                  <a:moveTo>
                    <a:pt x="31903" y="0"/>
                  </a:moveTo>
                  <a:lnTo>
                    <a:pt x="3227722" y="0"/>
                  </a:lnTo>
                  <a:cubicBezTo>
                    <a:pt x="3236183" y="0"/>
                    <a:pt x="3244297" y="3361"/>
                    <a:pt x="3250280" y="9344"/>
                  </a:cubicBezTo>
                  <a:cubicBezTo>
                    <a:pt x="3256263" y="15327"/>
                    <a:pt x="3259624" y="23441"/>
                    <a:pt x="3259624" y="31903"/>
                  </a:cubicBezTo>
                  <a:lnTo>
                    <a:pt x="3259624" y="1524967"/>
                  </a:lnTo>
                  <a:cubicBezTo>
                    <a:pt x="3259624" y="1533428"/>
                    <a:pt x="3256263" y="1541543"/>
                    <a:pt x="3250280" y="1547526"/>
                  </a:cubicBezTo>
                  <a:cubicBezTo>
                    <a:pt x="3244297" y="1553509"/>
                    <a:pt x="3236183" y="1556870"/>
                    <a:pt x="3227722" y="1556870"/>
                  </a:cubicBezTo>
                  <a:lnTo>
                    <a:pt x="31903" y="1556870"/>
                  </a:lnTo>
                  <a:cubicBezTo>
                    <a:pt x="23441" y="1556870"/>
                    <a:pt x="15327" y="1553509"/>
                    <a:pt x="9344" y="1547526"/>
                  </a:cubicBezTo>
                  <a:cubicBezTo>
                    <a:pt x="3361" y="1541543"/>
                    <a:pt x="0" y="1533428"/>
                    <a:pt x="0" y="1524967"/>
                  </a:cubicBezTo>
                  <a:lnTo>
                    <a:pt x="0" y="31903"/>
                  </a:lnTo>
                  <a:cubicBezTo>
                    <a:pt x="0" y="23441"/>
                    <a:pt x="3361" y="15327"/>
                    <a:pt x="9344" y="9344"/>
                  </a:cubicBezTo>
                  <a:cubicBezTo>
                    <a:pt x="15327" y="3361"/>
                    <a:pt x="23441" y="0"/>
                    <a:pt x="31903" y="0"/>
                  </a:cubicBezTo>
                  <a:close/>
                </a:path>
              </a:pathLst>
            </a:custGeom>
            <a:solidFill>
              <a:srgbClr val="DBE0ED"/>
            </a:solidFill>
          </p:spPr>
          <p:txBody>
            <a:bodyPr/>
            <a:lstStyle/>
            <a:p>
              <a:endParaRPr lang="en-US"/>
            </a:p>
          </p:txBody>
        </p:sp>
        <p:sp>
          <p:nvSpPr>
            <p:cNvPr id="9" name="TextBox 9"/>
            <p:cNvSpPr txBox="1"/>
            <p:nvPr/>
          </p:nvSpPr>
          <p:spPr>
            <a:xfrm>
              <a:off x="0" y="-57150"/>
              <a:ext cx="3259624" cy="161402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TextBox 10"/>
          <p:cNvSpPr txBox="1"/>
          <p:nvPr/>
        </p:nvSpPr>
        <p:spPr>
          <a:xfrm>
            <a:off x="4558337" y="1057275"/>
            <a:ext cx="9171327" cy="633814"/>
          </a:xfrm>
          <a:prstGeom prst="rect">
            <a:avLst/>
          </a:prstGeom>
        </p:spPr>
        <p:txBody>
          <a:bodyPr lIns="0" tIns="0" rIns="0" bIns="0" rtlCol="0" anchor="t">
            <a:spAutoFit/>
          </a:bodyPr>
          <a:lstStyle/>
          <a:p>
            <a:pPr marL="0" lvl="0" indent="0" algn="ctr">
              <a:lnSpc>
                <a:spcPts val="4655"/>
              </a:lnSpc>
            </a:pPr>
            <a:r>
              <a:rPr lang="en-US" sz="4351" b="1">
                <a:solidFill>
                  <a:srgbClr val="000000"/>
                </a:solidFill>
                <a:latin typeface="Times New Roman Bold"/>
                <a:ea typeface="Times New Roman Bold"/>
                <a:cs typeface="Times New Roman Bold"/>
                <a:sym typeface="Times New Roman Bold"/>
              </a:rPr>
              <a:t>Thuật toán Chèn, Sửa, Xóa Mã Nguồn</a:t>
            </a:r>
          </a:p>
        </p:txBody>
      </p:sp>
      <p:sp>
        <p:nvSpPr>
          <p:cNvPr id="11" name="TextBox 11"/>
          <p:cNvSpPr txBox="1"/>
          <p:nvPr/>
        </p:nvSpPr>
        <p:spPr>
          <a:xfrm>
            <a:off x="3507569" y="2859282"/>
            <a:ext cx="11979031" cy="5244338"/>
          </a:xfrm>
          <a:prstGeom prst="rect">
            <a:avLst/>
          </a:prstGeom>
        </p:spPr>
        <p:txBody>
          <a:bodyPr lIns="0" tIns="0" rIns="0" bIns="0" rtlCol="0" anchor="t">
            <a:spAutoFit/>
          </a:bodyPr>
          <a:lstStyle/>
          <a:p>
            <a:pPr marL="0" lvl="0" indent="0" algn="l">
              <a:lnSpc>
                <a:spcPts val="5235"/>
              </a:lnSpc>
            </a:pPr>
            <a:r>
              <a:rPr lang="en-US" sz="3399">
                <a:solidFill>
                  <a:srgbClr val="000000"/>
                </a:solidFill>
                <a:latin typeface="Times New Roman"/>
                <a:ea typeface="Times New Roman"/>
                <a:cs typeface="Times New Roman"/>
                <a:sym typeface="Times New Roman"/>
              </a:rPr>
              <a:t>• INSERT (Chèn): Bắt sự kiện tên lớp → Tự động tiêm khai báo Field (private PaymentGateway paymentGateway;) và Constructor Injection vào đầu lớp</a:t>
            </a:r>
          </a:p>
          <a:p>
            <a:pPr marL="0" lvl="0" indent="0" algn="l">
              <a:lnSpc>
                <a:spcPts val="5235"/>
              </a:lnSpc>
            </a:pPr>
            <a:r>
              <a:rPr lang="en-US" sz="3399">
                <a:solidFill>
                  <a:srgbClr val="000000"/>
                </a:solidFill>
                <a:latin typeface="Times New Roman"/>
                <a:ea typeface="Times New Roman"/>
                <a:cs typeface="Times New Roman"/>
                <a:sym typeface="Times New Roman"/>
              </a:rPr>
              <a:t>• MODIFY (Sửa): Phát hiện lời gọi SQLPaymentGateway.getInstance() → Thay thế bằng liên kết this.paymentGateway để phá vỡ tight coupling</a:t>
            </a:r>
          </a:p>
          <a:p>
            <a:pPr marL="0" lvl="0" indent="0" algn="l">
              <a:lnSpc>
                <a:spcPts val="5235"/>
              </a:lnSpc>
            </a:pPr>
            <a:r>
              <a:rPr lang="en-US" sz="3399">
                <a:solidFill>
                  <a:srgbClr val="000000"/>
                </a:solidFill>
                <a:latin typeface="Times New Roman"/>
                <a:ea typeface="Times New Roman"/>
                <a:cs typeface="Times New Roman"/>
                <a:sym typeface="Times New Roman"/>
              </a:rPr>
              <a:t>• DELETE (Xóa): Loại bỏ import tĩnh và các tham chiếu Singleton không cần thiết, giữ mã nguồn sạch và dễ kiểm thử</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557186" y="-5988665"/>
            <a:ext cx="11718479" cy="20832852"/>
          </a:xfrm>
          <a:custGeom>
            <a:avLst/>
            <a:gdLst/>
            <a:ahLst/>
            <a:cxnLst/>
            <a:rect l="l" t="t" r="r" b="b"/>
            <a:pathLst>
              <a:path w="11718479" h="20832852">
                <a:moveTo>
                  <a:pt x="0" y="0"/>
                </a:moveTo>
                <a:lnTo>
                  <a:pt x="11718479" y="0"/>
                </a:lnTo>
                <a:lnTo>
                  <a:pt x="11718479" y="20832851"/>
                </a:lnTo>
                <a:lnTo>
                  <a:pt x="0" y="208328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V="1">
            <a:off x="519025" y="396902"/>
            <a:ext cx="2359274" cy="2359274"/>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a:off x="15486600" y="7366014"/>
            <a:ext cx="2359274" cy="2359274"/>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486600" y="39690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57095" y="7366014"/>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3110214" y="3365141"/>
            <a:ext cx="12376386" cy="5138605"/>
            <a:chOff x="0" y="0"/>
            <a:chExt cx="3259624" cy="1353377"/>
          </a:xfrm>
        </p:grpSpPr>
        <p:sp>
          <p:nvSpPr>
            <p:cNvPr id="8" name="Freeform 8"/>
            <p:cNvSpPr/>
            <p:nvPr/>
          </p:nvSpPr>
          <p:spPr>
            <a:xfrm>
              <a:off x="0" y="0"/>
              <a:ext cx="3259624" cy="1353377"/>
            </a:xfrm>
            <a:custGeom>
              <a:avLst/>
              <a:gdLst/>
              <a:ahLst/>
              <a:cxnLst/>
              <a:rect l="l" t="t" r="r" b="b"/>
              <a:pathLst>
                <a:path w="3259624" h="1353377">
                  <a:moveTo>
                    <a:pt x="31903" y="0"/>
                  </a:moveTo>
                  <a:lnTo>
                    <a:pt x="3227722" y="0"/>
                  </a:lnTo>
                  <a:cubicBezTo>
                    <a:pt x="3236183" y="0"/>
                    <a:pt x="3244297" y="3361"/>
                    <a:pt x="3250280" y="9344"/>
                  </a:cubicBezTo>
                  <a:cubicBezTo>
                    <a:pt x="3256263" y="15327"/>
                    <a:pt x="3259624" y="23441"/>
                    <a:pt x="3259624" y="31903"/>
                  </a:cubicBezTo>
                  <a:lnTo>
                    <a:pt x="3259624" y="1321475"/>
                  </a:lnTo>
                  <a:cubicBezTo>
                    <a:pt x="3259624" y="1329936"/>
                    <a:pt x="3256263" y="1338051"/>
                    <a:pt x="3250280" y="1344033"/>
                  </a:cubicBezTo>
                  <a:cubicBezTo>
                    <a:pt x="3244297" y="1350016"/>
                    <a:pt x="3236183" y="1353377"/>
                    <a:pt x="3227722" y="1353377"/>
                  </a:cubicBezTo>
                  <a:lnTo>
                    <a:pt x="31903" y="1353377"/>
                  </a:lnTo>
                  <a:cubicBezTo>
                    <a:pt x="23441" y="1353377"/>
                    <a:pt x="15327" y="1350016"/>
                    <a:pt x="9344" y="1344033"/>
                  </a:cubicBezTo>
                  <a:cubicBezTo>
                    <a:pt x="3361" y="1338051"/>
                    <a:pt x="0" y="1329936"/>
                    <a:pt x="0" y="1321475"/>
                  </a:cubicBezTo>
                  <a:lnTo>
                    <a:pt x="0" y="31903"/>
                  </a:lnTo>
                  <a:cubicBezTo>
                    <a:pt x="0" y="23441"/>
                    <a:pt x="3361" y="15327"/>
                    <a:pt x="9344" y="9344"/>
                  </a:cubicBezTo>
                  <a:cubicBezTo>
                    <a:pt x="15327" y="3361"/>
                    <a:pt x="23441" y="0"/>
                    <a:pt x="31903" y="0"/>
                  </a:cubicBezTo>
                  <a:close/>
                </a:path>
              </a:pathLst>
            </a:custGeom>
            <a:solidFill>
              <a:srgbClr val="DBE0ED"/>
            </a:solidFill>
          </p:spPr>
          <p:txBody>
            <a:bodyPr/>
            <a:lstStyle/>
            <a:p>
              <a:endParaRPr lang="en-US"/>
            </a:p>
          </p:txBody>
        </p:sp>
        <p:sp>
          <p:nvSpPr>
            <p:cNvPr id="9" name="TextBox 9"/>
            <p:cNvSpPr txBox="1"/>
            <p:nvPr/>
          </p:nvSpPr>
          <p:spPr>
            <a:xfrm>
              <a:off x="0" y="-57150"/>
              <a:ext cx="3259624" cy="141052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TextBox 10"/>
          <p:cNvSpPr txBox="1"/>
          <p:nvPr/>
        </p:nvSpPr>
        <p:spPr>
          <a:xfrm>
            <a:off x="4525224" y="1367894"/>
            <a:ext cx="9237553" cy="1086407"/>
          </a:xfrm>
          <a:prstGeom prst="rect">
            <a:avLst/>
          </a:prstGeom>
        </p:spPr>
        <p:txBody>
          <a:bodyPr lIns="0" tIns="0" rIns="0" bIns="0" rtlCol="0" anchor="t">
            <a:spAutoFit/>
          </a:bodyPr>
          <a:lstStyle/>
          <a:p>
            <a:pPr marL="0" lvl="0" indent="0" algn="ctr">
              <a:lnSpc>
                <a:spcPts val="8061"/>
              </a:lnSpc>
            </a:pPr>
            <a:r>
              <a:rPr lang="en-US" sz="7533" b="1">
                <a:solidFill>
                  <a:srgbClr val="000000"/>
                </a:solidFill>
                <a:latin typeface="Times New Roman Bold"/>
                <a:ea typeface="Times New Roman Bold"/>
                <a:cs typeface="Times New Roman Bold"/>
                <a:sym typeface="Times New Roman Bold"/>
              </a:rPr>
              <a:t>Đánh giá Chất lượng</a:t>
            </a:r>
          </a:p>
        </p:txBody>
      </p:sp>
      <p:sp>
        <p:nvSpPr>
          <p:cNvPr id="11" name="TextBox 11"/>
          <p:cNvSpPr txBox="1"/>
          <p:nvPr/>
        </p:nvSpPr>
        <p:spPr>
          <a:xfrm>
            <a:off x="3719787" y="4325353"/>
            <a:ext cx="4733662" cy="2615438"/>
          </a:xfrm>
          <a:prstGeom prst="rect">
            <a:avLst/>
          </a:prstGeom>
        </p:spPr>
        <p:txBody>
          <a:bodyPr lIns="0" tIns="0" rIns="0" bIns="0" rtlCol="0" anchor="t">
            <a:spAutoFit/>
          </a:bodyPr>
          <a:lstStyle/>
          <a:p>
            <a:pPr marL="0" lvl="0" indent="0" algn="just">
              <a:lnSpc>
                <a:spcPts val="5235"/>
              </a:lnSpc>
            </a:pPr>
            <a:r>
              <a:rPr lang="en-US" sz="3399">
                <a:solidFill>
                  <a:srgbClr val="3C3F42"/>
                </a:solidFill>
                <a:latin typeface="Times New Roman"/>
                <a:ea typeface="Times New Roman"/>
                <a:cs typeface="Times New Roman"/>
                <a:sym typeface="Times New Roman"/>
              </a:rPr>
              <a:t>✅ Phân tích cú pháp chính xác</a:t>
            </a:r>
          </a:p>
          <a:p>
            <a:pPr marL="0" lvl="0" indent="0" algn="just">
              <a:lnSpc>
                <a:spcPts val="5235"/>
              </a:lnSpc>
            </a:pPr>
            <a:r>
              <a:rPr lang="en-US" sz="3399">
                <a:solidFill>
                  <a:srgbClr val="3C3F42"/>
                </a:solidFill>
                <a:latin typeface="Times New Roman"/>
                <a:ea typeface="Times New Roman"/>
                <a:cs typeface="Times New Roman"/>
                <a:sym typeface="Times New Roman"/>
              </a:rPr>
              <a:t>✅ Chèn mã thành công</a:t>
            </a:r>
          </a:p>
          <a:p>
            <a:pPr marL="0" lvl="0" indent="0" algn="just">
              <a:lnSpc>
                <a:spcPts val="5235"/>
              </a:lnSpc>
            </a:pPr>
            <a:r>
              <a:rPr lang="en-US" sz="3399">
                <a:solidFill>
                  <a:srgbClr val="3C3F42"/>
                </a:solidFill>
                <a:latin typeface="Times New Roman"/>
                <a:ea typeface="Times New Roman"/>
                <a:cs typeface="Times New Roman"/>
                <a:sym typeface="Times New Roman"/>
              </a:rPr>
              <a:t>✅ Sửa mã chuẩn xác</a:t>
            </a:r>
          </a:p>
        </p:txBody>
      </p:sp>
      <p:sp>
        <p:nvSpPr>
          <p:cNvPr id="12" name="TextBox 12"/>
          <p:cNvSpPr txBox="1"/>
          <p:nvPr/>
        </p:nvSpPr>
        <p:spPr>
          <a:xfrm>
            <a:off x="9481874" y="4325353"/>
            <a:ext cx="5395153" cy="1300988"/>
          </a:xfrm>
          <a:prstGeom prst="rect">
            <a:avLst/>
          </a:prstGeom>
        </p:spPr>
        <p:txBody>
          <a:bodyPr lIns="0" tIns="0" rIns="0" bIns="0" rtlCol="0" anchor="t">
            <a:spAutoFit/>
          </a:bodyPr>
          <a:lstStyle/>
          <a:p>
            <a:pPr marL="0" lvl="0" indent="0" algn="just">
              <a:lnSpc>
                <a:spcPts val="5235"/>
              </a:lnSpc>
            </a:pPr>
            <a:r>
              <a:rPr lang="en-US" sz="3399">
                <a:solidFill>
                  <a:srgbClr val="3C3F42"/>
                </a:solidFill>
                <a:latin typeface="Times New Roman"/>
                <a:ea typeface="Times New Roman"/>
                <a:cs typeface="Times New Roman"/>
                <a:sym typeface="Times New Roman"/>
              </a:rPr>
              <a:t>✅ Xóa mã không cần thiết</a:t>
            </a:r>
          </a:p>
          <a:p>
            <a:pPr marL="0" lvl="0" indent="0" algn="just">
              <a:lnSpc>
                <a:spcPts val="5235"/>
              </a:lnSpc>
            </a:pPr>
            <a:r>
              <a:rPr lang="en-US" sz="3399">
                <a:solidFill>
                  <a:srgbClr val="3C3F42"/>
                </a:solidFill>
                <a:latin typeface="Times New Roman"/>
                <a:ea typeface="Times New Roman"/>
                <a:cs typeface="Times New Roman"/>
                <a:sym typeface="Times New Roman"/>
              </a:rPr>
              <a:t>✅ Nâng cao Testability rõ rệt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557186" y="-5988665"/>
            <a:ext cx="11718479" cy="20832852"/>
          </a:xfrm>
          <a:custGeom>
            <a:avLst/>
            <a:gdLst/>
            <a:ahLst/>
            <a:cxnLst/>
            <a:rect l="l" t="t" r="r" b="b"/>
            <a:pathLst>
              <a:path w="11718479" h="20832852">
                <a:moveTo>
                  <a:pt x="0" y="0"/>
                </a:moveTo>
                <a:lnTo>
                  <a:pt x="11718479" y="0"/>
                </a:lnTo>
                <a:lnTo>
                  <a:pt x="11718479" y="20832851"/>
                </a:lnTo>
                <a:lnTo>
                  <a:pt x="0" y="208328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V="1">
            <a:off x="519025" y="396902"/>
            <a:ext cx="2359274" cy="2359274"/>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a:off x="15486600" y="7366014"/>
            <a:ext cx="2359274" cy="2359274"/>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486600" y="39690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57095" y="7366014"/>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2629741" y="3194621"/>
            <a:ext cx="13028518" cy="2466279"/>
            <a:chOff x="0" y="0"/>
            <a:chExt cx="3431379" cy="649555"/>
          </a:xfrm>
        </p:grpSpPr>
        <p:sp>
          <p:nvSpPr>
            <p:cNvPr id="8" name="Freeform 8"/>
            <p:cNvSpPr/>
            <p:nvPr/>
          </p:nvSpPr>
          <p:spPr>
            <a:xfrm>
              <a:off x="0" y="0"/>
              <a:ext cx="3431379" cy="649555"/>
            </a:xfrm>
            <a:custGeom>
              <a:avLst/>
              <a:gdLst/>
              <a:ahLst/>
              <a:cxnLst/>
              <a:rect l="l" t="t" r="r" b="b"/>
              <a:pathLst>
                <a:path w="3431379" h="649555">
                  <a:moveTo>
                    <a:pt x="30306" y="0"/>
                  </a:moveTo>
                  <a:lnTo>
                    <a:pt x="3401074" y="0"/>
                  </a:lnTo>
                  <a:cubicBezTo>
                    <a:pt x="3409111" y="0"/>
                    <a:pt x="3416820" y="3193"/>
                    <a:pt x="3422503" y="8876"/>
                  </a:cubicBezTo>
                  <a:cubicBezTo>
                    <a:pt x="3428186" y="14560"/>
                    <a:pt x="3431379" y="22268"/>
                    <a:pt x="3431379" y="30306"/>
                  </a:cubicBezTo>
                  <a:lnTo>
                    <a:pt x="3431379" y="619249"/>
                  </a:lnTo>
                  <a:cubicBezTo>
                    <a:pt x="3431379" y="627287"/>
                    <a:pt x="3428186" y="634995"/>
                    <a:pt x="3422503" y="640679"/>
                  </a:cubicBezTo>
                  <a:cubicBezTo>
                    <a:pt x="3416820" y="646362"/>
                    <a:pt x="3409111" y="649555"/>
                    <a:pt x="3401074" y="649555"/>
                  </a:cubicBezTo>
                  <a:lnTo>
                    <a:pt x="30306" y="649555"/>
                  </a:lnTo>
                  <a:cubicBezTo>
                    <a:pt x="22268" y="649555"/>
                    <a:pt x="14560" y="646362"/>
                    <a:pt x="8876" y="640679"/>
                  </a:cubicBezTo>
                  <a:cubicBezTo>
                    <a:pt x="3193" y="634995"/>
                    <a:pt x="0" y="627287"/>
                    <a:pt x="0" y="619249"/>
                  </a:cubicBezTo>
                  <a:lnTo>
                    <a:pt x="0" y="30306"/>
                  </a:lnTo>
                  <a:cubicBezTo>
                    <a:pt x="0" y="22268"/>
                    <a:pt x="3193" y="14560"/>
                    <a:pt x="8876" y="8876"/>
                  </a:cubicBezTo>
                  <a:cubicBezTo>
                    <a:pt x="14560" y="3193"/>
                    <a:pt x="22268" y="0"/>
                    <a:pt x="30306" y="0"/>
                  </a:cubicBezTo>
                  <a:close/>
                </a:path>
              </a:pathLst>
            </a:custGeom>
            <a:solidFill>
              <a:srgbClr val="DBE0ED"/>
            </a:solidFill>
          </p:spPr>
          <p:txBody>
            <a:bodyPr/>
            <a:lstStyle/>
            <a:p>
              <a:endParaRPr lang="en-US"/>
            </a:p>
          </p:txBody>
        </p:sp>
        <p:sp>
          <p:nvSpPr>
            <p:cNvPr id="9" name="TextBox 9"/>
            <p:cNvSpPr txBox="1"/>
            <p:nvPr/>
          </p:nvSpPr>
          <p:spPr>
            <a:xfrm>
              <a:off x="0" y="-85725"/>
              <a:ext cx="3431379" cy="735280"/>
            </a:xfrm>
            <a:prstGeom prst="rect">
              <a:avLst/>
            </a:prstGeom>
          </p:spPr>
          <p:txBody>
            <a:bodyPr lIns="50800" tIns="50800" rIns="50800" bIns="50800" rtlCol="0" anchor="ctr"/>
            <a:lstStyle/>
            <a:p>
              <a:pPr marL="0" lvl="0" indent="0" algn="ctr">
                <a:lnSpc>
                  <a:spcPts val="4759"/>
                </a:lnSpc>
                <a:spcBef>
                  <a:spcPct val="0"/>
                </a:spcBef>
              </a:pPr>
              <a:endParaRPr/>
            </a:p>
          </p:txBody>
        </p:sp>
      </p:grpSp>
      <p:sp>
        <p:nvSpPr>
          <p:cNvPr id="10" name="TextBox 10"/>
          <p:cNvSpPr txBox="1"/>
          <p:nvPr/>
        </p:nvSpPr>
        <p:spPr>
          <a:xfrm>
            <a:off x="5231633" y="1605114"/>
            <a:ext cx="7824734" cy="730250"/>
          </a:xfrm>
          <a:prstGeom prst="rect">
            <a:avLst/>
          </a:prstGeom>
        </p:spPr>
        <p:txBody>
          <a:bodyPr lIns="0" tIns="0" rIns="0" bIns="0" rtlCol="0" anchor="t">
            <a:spAutoFit/>
          </a:bodyPr>
          <a:lstStyle/>
          <a:p>
            <a:pPr marL="0" lvl="0" indent="0" algn="l">
              <a:lnSpc>
                <a:spcPts val="5350"/>
              </a:lnSpc>
            </a:pPr>
            <a:r>
              <a:rPr lang="en-US" sz="5000" b="1">
                <a:solidFill>
                  <a:srgbClr val="000000"/>
                </a:solidFill>
                <a:latin typeface="Times New Roman Bold"/>
                <a:ea typeface="Times New Roman Bold"/>
                <a:cs typeface="Times New Roman Bold"/>
                <a:sym typeface="Times New Roman Bold"/>
              </a:rPr>
              <a:t>Giá trị thực tiễn với QA/QC</a:t>
            </a:r>
          </a:p>
        </p:txBody>
      </p:sp>
      <p:sp>
        <p:nvSpPr>
          <p:cNvPr id="11" name="TextBox 11"/>
          <p:cNvSpPr txBox="1"/>
          <p:nvPr/>
        </p:nvSpPr>
        <p:spPr>
          <a:xfrm>
            <a:off x="4110832" y="3408395"/>
            <a:ext cx="10066336" cy="1958213"/>
          </a:xfrm>
          <a:prstGeom prst="rect">
            <a:avLst/>
          </a:prstGeom>
        </p:spPr>
        <p:txBody>
          <a:bodyPr lIns="0" tIns="0" rIns="0" bIns="0" rtlCol="0" anchor="t">
            <a:spAutoFit/>
          </a:bodyPr>
          <a:lstStyle/>
          <a:p>
            <a:pPr marL="0" lvl="0" indent="0" algn="l">
              <a:lnSpc>
                <a:spcPts val="5235"/>
              </a:lnSpc>
            </a:pPr>
            <a:r>
              <a:rPr lang="en-US" sz="3399">
                <a:solidFill>
                  <a:srgbClr val="000000"/>
                </a:solidFill>
                <a:latin typeface="Times New Roman"/>
                <a:ea typeface="Times New Roman"/>
                <a:cs typeface="Times New Roman"/>
                <a:sym typeface="Times New Roman"/>
              </a:rPr>
              <a:t>✔ Hỗ trợ QA viết Unit Test với Mockito dễ dàng hơn nhờ Constructor Injection — giảm phụ thuộc cứng, tăng khả năng cô lập và kiểm soát từng thành phần trong kiểm thử.</a:t>
            </a:r>
          </a:p>
        </p:txBody>
      </p:sp>
      <p:grpSp>
        <p:nvGrpSpPr>
          <p:cNvPr id="12" name="Group 12"/>
          <p:cNvGrpSpPr/>
          <p:nvPr/>
        </p:nvGrpSpPr>
        <p:grpSpPr>
          <a:xfrm>
            <a:off x="2629741" y="6060950"/>
            <a:ext cx="13028518" cy="2466279"/>
            <a:chOff x="0" y="0"/>
            <a:chExt cx="3431379" cy="649555"/>
          </a:xfrm>
        </p:grpSpPr>
        <p:sp>
          <p:nvSpPr>
            <p:cNvPr id="13" name="Freeform 13"/>
            <p:cNvSpPr/>
            <p:nvPr/>
          </p:nvSpPr>
          <p:spPr>
            <a:xfrm>
              <a:off x="0" y="0"/>
              <a:ext cx="3431379" cy="649555"/>
            </a:xfrm>
            <a:custGeom>
              <a:avLst/>
              <a:gdLst/>
              <a:ahLst/>
              <a:cxnLst/>
              <a:rect l="l" t="t" r="r" b="b"/>
              <a:pathLst>
                <a:path w="3431379" h="649555">
                  <a:moveTo>
                    <a:pt x="30306" y="0"/>
                  </a:moveTo>
                  <a:lnTo>
                    <a:pt x="3401074" y="0"/>
                  </a:lnTo>
                  <a:cubicBezTo>
                    <a:pt x="3409111" y="0"/>
                    <a:pt x="3416820" y="3193"/>
                    <a:pt x="3422503" y="8876"/>
                  </a:cubicBezTo>
                  <a:cubicBezTo>
                    <a:pt x="3428186" y="14560"/>
                    <a:pt x="3431379" y="22268"/>
                    <a:pt x="3431379" y="30306"/>
                  </a:cubicBezTo>
                  <a:lnTo>
                    <a:pt x="3431379" y="619249"/>
                  </a:lnTo>
                  <a:cubicBezTo>
                    <a:pt x="3431379" y="627287"/>
                    <a:pt x="3428186" y="634995"/>
                    <a:pt x="3422503" y="640679"/>
                  </a:cubicBezTo>
                  <a:cubicBezTo>
                    <a:pt x="3416820" y="646362"/>
                    <a:pt x="3409111" y="649555"/>
                    <a:pt x="3401074" y="649555"/>
                  </a:cubicBezTo>
                  <a:lnTo>
                    <a:pt x="30306" y="649555"/>
                  </a:lnTo>
                  <a:cubicBezTo>
                    <a:pt x="22268" y="649555"/>
                    <a:pt x="14560" y="646362"/>
                    <a:pt x="8876" y="640679"/>
                  </a:cubicBezTo>
                  <a:cubicBezTo>
                    <a:pt x="3193" y="634995"/>
                    <a:pt x="0" y="627287"/>
                    <a:pt x="0" y="619249"/>
                  </a:cubicBezTo>
                  <a:lnTo>
                    <a:pt x="0" y="30306"/>
                  </a:lnTo>
                  <a:cubicBezTo>
                    <a:pt x="0" y="22268"/>
                    <a:pt x="3193" y="14560"/>
                    <a:pt x="8876" y="8876"/>
                  </a:cubicBezTo>
                  <a:cubicBezTo>
                    <a:pt x="14560" y="3193"/>
                    <a:pt x="22268" y="0"/>
                    <a:pt x="30306" y="0"/>
                  </a:cubicBezTo>
                  <a:close/>
                </a:path>
              </a:pathLst>
            </a:custGeom>
            <a:solidFill>
              <a:srgbClr val="DBE0ED"/>
            </a:solidFill>
          </p:spPr>
          <p:txBody>
            <a:bodyPr/>
            <a:lstStyle/>
            <a:p>
              <a:endParaRPr lang="en-US"/>
            </a:p>
          </p:txBody>
        </p:sp>
        <p:sp>
          <p:nvSpPr>
            <p:cNvPr id="14" name="TextBox 14"/>
            <p:cNvSpPr txBox="1"/>
            <p:nvPr/>
          </p:nvSpPr>
          <p:spPr>
            <a:xfrm>
              <a:off x="0" y="-85725"/>
              <a:ext cx="3431379" cy="735280"/>
            </a:xfrm>
            <a:prstGeom prst="rect">
              <a:avLst/>
            </a:prstGeom>
          </p:spPr>
          <p:txBody>
            <a:bodyPr lIns="50800" tIns="50800" rIns="50800" bIns="50800" rtlCol="0" anchor="ctr"/>
            <a:lstStyle/>
            <a:p>
              <a:pPr marL="0" lvl="0" indent="0" algn="ctr">
                <a:lnSpc>
                  <a:spcPts val="4759"/>
                </a:lnSpc>
                <a:spcBef>
                  <a:spcPct val="0"/>
                </a:spcBef>
              </a:pPr>
              <a:endParaRPr/>
            </a:p>
          </p:txBody>
        </p:sp>
      </p:grpSp>
      <p:sp>
        <p:nvSpPr>
          <p:cNvPr id="15" name="TextBox 15"/>
          <p:cNvSpPr txBox="1"/>
          <p:nvPr/>
        </p:nvSpPr>
        <p:spPr>
          <a:xfrm>
            <a:off x="4110832" y="6248308"/>
            <a:ext cx="10794821" cy="1958213"/>
          </a:xfrm>
          <a:prstGeom prst="rect">
            <a:avLst/>
          </a:prstGeom>
        </p:spPr>
        <p:txBody>
          <a:bodyPr lIns="0" tIns="0" rIns="0" bIns="0" rtlCol="0" anchor="t">
            <a:spAutoFit/>
          </a:bodyPr>
          <a:lstStyle/>
          <a:p>
            <a:pPr marL="0" lvl="0" indent="0" algn="l">
              <a:lnSpc>
                <a:spcPts val="5235"/>
              </a:lnSpc>
            </a:pPr>
            <a:r>
              <a:rPr lang="en-US" sz="3399">
                <a:solidFill>
                  <a:srgbClr val="000000"/>
                </a:solidFill>
                <a:latin typeface="Times New Roman"/>
                <a:ea typeface="Times New Roman"/>
                <a:cs typeface="Times New Roman"/>
                <a:sym typeface="Times New Roman"/>
              </a:rPr>
              <a:t>✔ Tăng Code Coverage đáng kể — Giảm thiểu Regression Bugs lũy tiến, nâng cao độ tin cậy của sản phẩm và rút ngắn chu kỳ kiểm thử hồi quy trong CI/CD pipeline.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557186" y="-5988665"/>
            <a:ext cx="11718479" cy="20832852"/>
          </a:xfrm>
          <a:custGeom>
            <a:avLst/>
            <a:gdLst/>
            <a:ahLst/>
            <a:cxnLst/>
            <a:rect l="l" t="t" r="r" b="b"/>
            <a:pathLst>
              <a:path w="11718479" h="20832852">
                <a:moveTo>
                  <a:pt x="0" y="0"/>
                </a:moveTo>
                <a:lnTo>
                  <a:pt x="11718479" y="0"/>
                </a:lnTo>
                <a:lnTo>
                  <a:pt x="11718479" y="20832851"/>
                </a:lnTo>
                <a:lnTo>
                  <a:pt x="0" y="2083285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V="1">
            <a:off x="519025" y="396902"/>
            <a:ext cx="2359274" cy="2359274"/>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a:off x="15486600" y="7366014"/>
            <a:ext cx="2359274" cy="2359274"/>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486600" y="39690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57095" y="7366014"/>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2629741" y="3194621"/>
            <a:ext cx="13028518" cy="2466279"/>
            <a:chOff x="0" y="0"/>
            <a:chExt cx="3431379" cy="649555"/>
          </a:xfrm>
        </p:grpSpPr>
        <p:sp>
          <p:nvSpPr>
            <p:cNvPr id="8" name="Freeform 8"/>
            <p:cNvSpPr/>
            <p:nvPr/>
          </p:nvSpPr>
          <p:spPr>
            <a:xfrm>
              <a:off x="0" y="0"/>
              <a:ext cx="3431379" cy="649555"/>
            </a:xfrm>
            <a:custGeom>
              <a:avLst/>
              <a:gdLst/>
              <a:ahLst/>
              <a:cxnLst/>
              <a:rect l="l" t="t" r="r" b="b"/>
              <a:pathLst>
                <a:path w="3431379" h="649555">
                  <a:moveTo>
                    <a:pt x="30306" y="0"/>
                  </a:moveTo>
                  <a:lnTo>
                    <a:pt x="3401074" y="0"/>
                  </a:lnTo>
                  <a:cubicBezTo>
                    <a:pt x="3409111" y="0"/>
                    <a:pt x="3416820" y="3193"/>
                    <a:pt x="3422503" y="8876"/>
                  </a:cubicBezTo>
                  <a:cubicBezTo>
                    <a:pt x="3428186" y="14560"/>
                    <a:pt x="3431379" y="22268"/>
                    <a:pt x="3431379" y="30306"/>
                  </a:cubicBezTo>
                  <a:lnTo>
                    <a:pt x="3431379" y="619249"/>
                  </a:lnTo>
                  <a:cubicBezTo>
                    <a:pt x="3431379" y="627287"/>
                    <a:pt x="3428186" y="634995"/>
                    <a:pt x="3422503" y="640679"/>
                  </a:cubicBezTo>
                  <a:cubicBezTo>
                    <a:pt x="3416820" y="646362"/>
                    <a:pt x="3409111" y="649555"/>
                    <a:pt x="3401074" y="649555"/>
                  </a:cubicBezTo>
                  <a:lnTo>
                    <a:pt x="30306" y="649555"/>
                  </a:lnTo>
                  <a:cubicBezTo>
                    <a:pt x="22268" y="649555"/>
                    <a:pt x="14560" y="646362"/>
                    <a:pt x="8876" y="640679"/>
                  </a:cubicBezTo>
                  <a:cubicBezTo>
                    <a:pt x="3193" y="634995"/>
                    <a:pt x="0" y="627287"/>
                    <a:pt x="0" y="619249"/>
                  </a:cubicBezTo>
                  <a:lnTo>
                    <a:pt x="0" y="30306"/>
                  </a:lnTo>
                  <a:cubicBezTo>
                    <a:pt x="0" y="22268"/>
                    <a:pt x="3193" y="14560"/>
                    <a:pt x="8876" y="8876"/>
                  </a:cubicBezTo>
                  <a:cubicBezTo>
                    <a:pt x="14560" y="3193"/>
                    <a:pt x="22268" y="0"/>
                    <a:pt x="30306" y="0"/>
                  </a:cubicBezTo>
                  <a:close/>
                </a:path>
              </a:pathLst>
            </a:custGeom>
            <a:solidFill>
              <a:srgbClr val="DBE0ED"/>
            </a:solidFill>
          </p:spPr>
          <p:txBody>
            <a:bodyPr/>
            <a:lstStyle/>
            <a:p>
              <a:endParaRPr lang="en-US"/>
            </a:p>
          </p:txBody>
        </p:sp>
        <p:sp>
          <p:nvSpPr>
            <p:cNvPr id="9" name="TextBox 9"/>
            <p:cNvSpPr txBox="1"/>
            <p:nvPr/>
          </p:nvSpPr>
          <p:spPr>
            <a:xfrm>
              <a:off x="0" y="-85725"/>
              <a:ext cx="3431379" cy="735280"/>
            </a:xfrm>
            <a:prstGeom prst="rect">
              <a:avLst/>
            </a:prstGeom>
          </p:spPr>
          <p:txBody>
            <a:bodyPr lIns="50800" tIns="50800" rIns="50800" bIns="50800" rtlCol="0" anchor="ctr"/>
            <a:lstStyle/>
            <a:p>
              <a:pPr marL="0" lvl="0" indent="0" algn="ctr">
                <a:lnSpc>
                  <a:spcPts val="4759"/>
                </a:lnSpc>
                <a:spcBef>
                  <a:spcPct val="0"/>
                </a:spcBef>
              </a:pPr>
              <a:endParaRPr/>
            </a:p>
          </p:txBody>
        </p:sp>
      </p:grpSp>
      <p:sp>
        <p:nvSpPr>
          <p:cNvPr id="10" name="TextBox 10"/>
          <p:cNvSpPr txBox="1"/>
          <p:nvPr/>
        </p:nvSpPr>
        <p:spPr>
          <a:xfrm>
            <a:off x="6125682" y="1473771"/>
            <a:ext cx="6036635" cy="730250"/>
          </a:xfrm>
          <a:prstGeom prst="rect">
            <a:avLst/>
          </a:prstGeom>
        </p:spPr>
        <p:txBody>
          <a:bodyPr lIns="0" tIns="0" rIns="0" bIns="0" rtlCol="0" anchor="t">
            <a:spAutoFit/>
          </a:bodyPr>
          <a:lstStyle/>
          <a:p>
            <a:pPr marL="0" lvl="0" indent="0" algn="l">
              <a:lnSpc>
                <a:spcPts val="5350"/>
              </a:lnSpc>
            </a:pPr>
            <a:r>
              <a:rPr lang="en-US" sz="5000" b="1">
                <a:solidFill>
                  <a:srgbClr val="000000"/>
                </a:solidFill>
                <a:latin typeface="Times New Roman Bold"/>
                <a:ea typeface="Times New Roman Bold"/>
                <a:cs typeface="Times New Roman Bold"/>
                <a:sym typeface="Times New Roman Bold"/>
              </a:rPr>
              <a:t>Hạn chế &amp; Giải pháp</a:t>
            </a:r>
          </a:p>
        </p:txBody>
      </p:sp>
      <p:sp>
        <p:nvSpPr>
          <p:cNvPr id="11" name="TextBox 11"/>
          <p:cNvSpPr txBox="1"/>
          <p:nvPr/>
        </p:nvSpPr>
        <p:spPr>
          <a:xfrm>
            <a:off x="4110832" y="3408395"/>
            <a:ext cx="10066336" cy="1958213"/>
          </a:xfrm>
          <a:prstGeom prst="rect">
            <a:avLst/>
          </a:prstGeom>
        </p:spPr>
        <p:txBody>
          <a:bodyPr lIns="0" tIns="0" rIns="0" bIns="0" rtlCol="0" anchor="t">
            <a:spAutoFit/>
          </a:bodyPr>
          <a:lstStyle/>
          <a:p>
            <a:pPr marL="0" lvl="0" indent="0" algn="l">
              <a:lnSpc>
                <a:spcPts val="5235"/>
              </a:lnSpc>
            </a:pPr>
            <a:r>
              <a:rPr lang="en-US" sz="3399">
                <a:solidFill>
                  <a:srgbClr val="000000"/>
                </a:solidFill>
                <a:latin typeface="Times New Roman"/>
                <a:ea typeface="Times New Roman"/>
                <a:cs typeface="Times New Roman"/>
                <a:sym typeface="Times New Roman"/>
              </a:rPr>
              <a:t>Hạn chế hiện tại: Ngữ pháp thu hẹp (chỉ nhận diện một số mẫu cụ thể), chỉ xử lý đơn file, đơn luồng — chưa hỗ trợ phân tích phụ thuộc liên tệp tin.</a:t>
            </a:r>
          </a:p>
        </p:txBody>
      </p:sp>
      <p:grpSp>
        <p:nvGrpSpPr>
          <p:cNvPr id="12" name="Group 12"/>
          <p:cNvGrpSpPr/>
          <p:nvPr/>
        </p:nvGrpSpPr>
        <p:grpSpPr>
          <a:xfrm>
            <a:off x="2629741" y="6060950"/>
            <a:ext cx="13028518" cy="2466279"/>
            <a:chOff x="0" y="0"/>
            <a:chExt cx="3431379" cy="649555"/>
          </a:xfrm>
        </p:grpSpPr>
        <p:sp>
          <p:nvSpPr>
            <p:cNvPr id="13" name="Freeform 13"/>
            <p:cNvSpPr/>
            <p:nvPr/>
          </p:nvSpPr>
          <p:spPr>
            <a:xfrm>
              <a:off x="0" y="0"/>
              <a:ext cx="3431379" cy="649555"/>
            </a:xfrm>
            <a:custGeom>
              <a:avLst/>
              <a:gdLst/>
              <a:ahLst/>
              <a:cxnLst/>
              <a:rect l="l" t="t" r="r" b="b"/>
              <a:pathLst>
                <a:path w="3431379" h="649555">
                  <a:moveTo>
                    <a:pt x="30306" y="0"/>
                  </a:moveTo>
                  <a:lnTo>
                    <a:pt x="3401074" y="0"/>
                  </a:lnTo>
                  <a:cubicBezTo>
                    <a:pt x="3409111" y="0"/>
                    <a:pt x="3416820" y="3193"/>
                    <a:pt x="3422503" y="8876"/>
                  </a:cubicBezTo>
                  <a:cubicBezTo>
                    <a:pt x="3428186" y="14560"/>
                    <a:pt x="3431379" y="22268"/>
                    <a:pt x="3431379" y="30306"/>
                  </a:cubicBezTo>
                  <a:lnTo>
                    <a:pt x="3431379" y="619249"/>
                  </a:lnTo>
                  <a:cubicBezTo>
                    <a:pt x="3431379" y="627287"/>
                    <a:pt x="3428186" y="634995"/>
                    <a:pt x="3422503" y="640679"/>
                  </a:cubicBezTo>
                  <a:cubicBezTo>
                    <a:pt x="3416820" y="646362"/>
                    <a:pt x="3409111" y="649555"/>
                    <a:pt x="3401074" y="649555"/>
                  </a:cubicBezTo>
                  <a:lnTo>
                    <a:pt x="30306" y="649555"/>
                  </a:lnTo>
                  <a:cubicBezTo>
                    <a:pt x="22268" y="649555"/>
                    <a:pt x="14560" y="646362"/>
                    <a:pt x="8876" y="640679"/>
                  </a:cubicBezTo>
                  <a:cubicBezTo>
                    <a:pt x="3193" y="634995"/>
                    <a:pt x="0" y="627287"/>
                    <a:pt x="0" y="619249"/>
                  </a:cubicBezTo>
                  <a:lnTo>
                    <a:pt x="0" y="30306"/>
                  </a:lnTo>
                  <a:cubicBezTo>
                    <a:pt x="0" y="22268"/>
                    <a:pt x="3193" y="14560"/>
                    <a:pt x="8876" y="8876"/>
                  </a:cubicBezTo>
                  <a:cubicBezTo>
                    <a:pt x="14560" y="3193"/>
                    <a:pt x="22268" y="0"/>
                    <a:pt x="30306" y="0"/>
                  </a:cubicBezTo>
                  <a:close/>
                </a:path>
              </a:pathLst>
            </a:custGeom>
            <a:solidFill>
              <a:srgbClr val="DBE0ED"/>
            </a:solidFill>
          </p:spPr>
          <p:txBody>
            <a:bodyPr/>
            <a:lstStyle/>
            <a:p>
              <a:endParaRPr lang="en-US"/>
            </a:p>
          </p:txBody>
        </p:sp>
        <p:sp>
          <p:nvSpPr>
            <p:cNvPr id="14" name="TextBox 14"/>
            <p:cNvSpPr txBox="1"/>
            <p:nvPr/>
          </p:nvSpPr>
          <p:spPr>
            <a:xfrm>
              <a:off x="0" y="-85725"/>
              <a:ext cx="3431379" cy="735280"/>
            </a:xfrm>
            <a:prstGeom prst="rect">
              <a:avLst/>
            </a:prstGeom>
          </p:spPr>
          <p:txBody>
            <a:bodyPr lIns="50800" tIns="50800" rIns="50800" bIns="50800" rtlCol="0" anchor="ctr"/>
            <a:lstStyle/>
            <a:p>
              <a:pPr marL="0" lvl="0" indent="0" algn="ctr">
                <a:lnSpc>
                  <a:spcPts val="4759"/>
                </a:lnSpc>
                <a:spcBef>
                  <a:spcPct val="0"/>
                </a:spcBef>
              </a:pPr>
              <a:endParaRPr/>
            </a:p>
          </p:txBody>
        </p:sp>
      </p:grpSp>
      <p:sp>
        <p:nvSpPr>
          <p:cNvPr id="15" name="TextBox 15"/>
          <p:cNvSpPr txBox="1"/>
          <p:nvPr/>
        </p:nvSpPr>
        <p:spPr>
          <a:xfrm>
            <a:off x="4085368" y="6221892"/>
            <a:ext cx="10066336" cy="1958213"/>
          </a:xfrm>
          <a:prstGeom prst="rect">
            <a:avLst/>
          </a:prstGeom>
        </p:spPr>
        <p:txBody>
          <a:bodyPr lIns="0" tIns="0" rIns="0" bIns="0" rtlCol="0" anchor="t">
            <a:spAutoFit/>
          </a:bodyPr>
          <a:lstStyle/>
          <a:p>
            <a:pPr marL="0" lvl="0" indent="0" algn="l">
              <a:lnSpc>
                <a:spcPts val="5235"/>
              </a:lnSpc>
            </a:pPr>
            <a:r>
              <a:rPr lang="en-US" sz="3399">
                <a:solidFill>
                  <a:srgbClr val="000000"/>
                </a:solidFill>
                <a:latin typeface="Times New Roman"/>
                <a:ea typeface="Times New Roman"/>
                <a:cs typeface="Times New Roman"/>
                <a:sym typeface="Times New Roman"/>
              </a:rPr>
              <a:t>Giải pháp khắc phục: Nạp Full Java Grammar, xây dựng Symbol Table toàn cục để theo dõi phụ thuộc đa tệp, hỗ trợ xử lý đồng bộ và mở rộng quy mô refactoring.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0"/>
                </a:moveTo>
                <a:lnTo>
                  <a:pt x="10287000" y="0"/>
                </a:lnTo>
                <a:lnTo>
                  <a:pt x="10287000" y="18288000"/>
                </a:lnTo>
                <a:lnTo>
                  <a:pt x="0" y="182880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V="1">
            <a:off x="519025" y="396902"/>
            <a:ext cx="2359274" cy="2359274"/>
          </a:xfrm>
          <a:custGeom>
            <a:avLst/>
            <a:gdLst/>
            <a:ahLst/>
            <a:cxnLst/>
            <a:rect l="l" t="t" r="r" b="b"/>
            <a:pathLst>
              <a:path w="2359274" h="2359274">
                <a:moveTo>
                  <a:pt x="0" y="2359274"/>
                </a:moveTo>
                <a:lnTo>
                  <a:pt x="2359274" y="2359274"/>
                </a:lnTo>
                <a:lnTo>
                  <a:pt x="2359274" y="0"/>
                </a:lnTo>
                <a:lnTo>
                  <a:pt x="0" y="0"/>
                </a:lnTo>
                <a:lnTo>
                  <a:pt x="0" y="235927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a:off x="15486600" y="7366014"/>
            <a:ext cx="2359274" cy="2359274"/>
          </a:xfrm>
          <a:custGeom>
            <a:avLst/>
            <a:gdLst/>
            <a:ahLst/>
            <a:cxnLst/>
            <a:rect l="l" t="t" r="r" b="b"/>
            <a:pathLst>
              <a:path w="2359274" h="2359274">
                <a:moveTo>
                  <a:pt x="2359274" y="0"/>
                </a:moveTo>
                <a:lnTo>
                  <a:pt x="0" y="0"/>
                </a:lnTo>
                <a:lnTo>
                  <a:pt x="0" y="2359274"/>
                </a:lnTo>
                <a:lnTo>
                  <a:pt x="2359274" y="2359274"/>
                </a:lnTo>
                <a:lnTo>
                  <a:pt x="235927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486600" y="39690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2608480" y="3247421"/>
            <a:ext cx="8066761" cy="3858832"/>
          </a:xfrm>
          <a:prstGeom prst="rect">
            <a:avLst/>
          </a:prstGeom>
        </p:spPr>
        <p:txBody>
          <a:bodyPr lIns="0" tIns="0" rIns="0" bIns="0" rtlCol="0" anchor="t">
            <a:spAutoFit/>
          </a:bodyPr>
          <a:lstStyle/>
          <a:p>
            <a:pPr marL="0" lvl="0" indent="0" algn="l">
              <a:lnSpc>
                <a:spcPts val="9955"/>
              </a:lnSpc>
            </a:pPr>
            <a:r>
              <a:rPr lang="en-US" sz="9303">
                <a:solidFill>
                  <a:srgbClr val="000000"/>
                </a:solidFill>
                <a:latin typeface="Times New Roman"/>
                <a:ea typeface="Times New Roman"/>
                <a:cs typeface="Times New Roman"/>
                <a:sym typeface="Times New Roman"/>
              </a:rPr>
              <a:t>Cảm ơn Thầy cô và các bạn đã lắng nghe!</a:t>
            </a:r>
          </a:p>
        </p:txBody>
      </p:sp>
      <p:sp>
        <p:nvSpPr>
          <p:cNvPr id="7" name="Freeform 7"/>
          <p:cNvSpPr/>
          <p:nvPr/>
        </p:nvSpPr>
        <p:spPr>
          <a:xfrm>
            <a:off x="57095" y="7366014"/>
            <a:ext cx="2693378" cy="2693378"/>
          </a:xfrm>
          <a:custGeom>
            <a:avLst/>
            <a:gdLst/>
            <a:ahLst/>
            <a:cxnLst/>
            <a:rect l="l" t="t" r="r" b="b"/>
            <a:pathLst>
              <a:path w="2693378" h="2693378">
                <a:moveTo>
                  <a:pt x="0" y="0"/>
                </a:moveTo>
                <a:lnTo>
                  <a:pt x="2693378" y="0"/>
                </a:lnTo>
                <a:lnTo>
                  <a:pt x="2693378" y="2693378"/>
                </a:lnTo>
                <a:lnTo>
                  <a:pt x="0" y="2693378"/>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1054</Words>
  <Application>Microsoft Office PowerPoint</Application>
  <PresentationFormat>Custom</PresentationFormat>
  <Paragraphs>60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Times New Roman Bold</vt:lpstr>
      <vt:lpstr>Arial</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Tự động Refactoring với ANTLR và Testability</dc:title>
  <cp:lastModifiedBy>Thứ Nguyễn</cp:lastModifiedBy>
  <cp:revision>2</cp:revision>
  <dcterms:created xsi:type="dcterms:W3CDTF">2006-08-16T00:00:00Z</dcterms:created>
  <dcterms:modified xsi:type="dcterms:W3CDTF">2026-06-24T15:08:33Z</dcterms:modified>
  <dc:identifier>DAHNexEo6Ls</dc:identifier>
</cp:coreProperties>
</file>